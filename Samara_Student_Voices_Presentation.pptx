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914400" y="1097280"/>
            <a:ext cx="10332720" cy="365760"/>
          </a:xfrm>
          <a:prstGeom prst="rect">
            <a:avLst/>
          </a:prstGeom>
          <a:noFill/>
          <a:ln/>
        </p:spPr>
        <p:txBody>
          <a:bodyPr wrap="square" rtlCol="0" anchor="ctr"/>
          <a:lstStyle/>
          <a:p>
            <a:pPr indent="0" marL="0">
              <a:buNone/>
            </a:pPr>
            <a:r>
              <a:rPr lang="en-US" sz="1100" b="1" dirty="0">
                <a:solidFill>
                  <a:srgbClr val="60A5FA"/>
                </a:solidFill>
                <a:latin typeface="Arial" pitchFamily="34" charset="0"/>
                <a:ea typeface="Arial" pitchFamily="34" charset="-122"/>
                <a:cs typeface="Arial" pitchFamily="34" charset="-120"/>
              </a:rPr>
              <a:t>INSTITUTIONAL GRIEVANCE REDRESSAL &amp; SAFETY NETWORK</a:t>
            </a:r>
            <a:endParaRPr lang="en-US" sz="1100" dirty="0"/>
          </a:p>
        </p:txBody>
      </p:sp>
      <p:sp>
        <p:nvSpPr>
          <p:cNvPr id="3" name="Text 1"/>
          <p:cNvSpPr/>
          <p:nvPr/>
        </p:nvSpPr>
        <p:spPr>
          <a:xfrm>
            <a:off x="914400" y="1554480"/>
            <a:ext cx="10332720" cy="1645920"/>
          </a:xfrm>
          <a:prstGeom prst="rect">
            <a:avLst/>
          </a:prstGeom>
          <a:noFill/>
          <a:ln/>
        </p:spPr>
        <p:txBody>
          <a:bodyPr wrap="square" rtlCol="0" anchor="ctr"/>
          <a:lstStyle/>
          <a:p>
            <a:pPr indent="0" marL="0">
              <a:lnSpc>
                <a:spcPts val="4600"/>
              </a:lnSpc>
              <a:buNone/>
            </a:pPr>
            <a:r>
              <a:rPr lang="en-US" sz="4200" b="1" dirty="0">
                <a:solidFill>
                  <a:srgbClr val="FFFFFF"/>
                </a:solidFill>
                <a:latin typeface="Arial" pitchFamily="34" charset="0"/>
                <a:ea typeface="Arial" pitchFamily="34" charset="-122"/>
                <a:cs typeface="Arial" pitchFamily="34" charset="-120"/>
              </a:rPr>
              <a:t>Samara University</a:t>
            </a:r>
            <a:endParaRPr lang="en-US" sz="4200" dirty="0"/>
          </a:p>
          <a:p>
            <a:pPr indent="0" marL="0">
              <a:lnSpc>
                <a:spcPts val="4600"/>
              </a:lnSpc>
              <a:buNone/>
            </a:pPr>
            <a:r>
              <a:rPr lang="en-US" sz="4200" b="1" dirty="0">
                <a:solidFill>
                  <a:srgbClr val="FFFFFF"/>
                </a:solidFill>
                <a:latin typeface="Arial" pitchFamily="34" charset="0"/>
                <a:ea typeface="Arial" pitchFamily="34" charset="-122"/>
                <a:cs typeface="Arial" pitchFamily="34" charset="-120"/>
              </a:rPr>
              <a:t>Student Voices</a:t>
            </a:r>
            <a:endParaRPr lang="en-US" sz="4200" dirty="0"/>
          </a:p>
        </p:txBody>
      </p:sp>
      <p:sp>
        <p:nvSpPr>
          <p:cNvPr id="4" name="Text 2"/>
          <p:cNvSpPr/>
          <p:nvPr/>
        </p:nvSpPr>
        <p:spPr>
          <a:xfrm>
            <a:off x="914400" y="3291840"/>
            <a:ext cx="10332720" cy="457200"/>
          </a:xfrm>
          <a:prstGeom prst="rect">
            <a:avLst/>
          </a:prstGeom>
          <a:noFill/>
          <a:ln/>
        </p:spPr>
        <p:txBody>
          <a:bodyPr wrap="square" rtlCol="0" anchor="ctr"/>
          <a:lstStyle/>
          <a:p>
            <a:pPr indent="0" marL="0">
              <a:buNone/>
            </a:pPr>
            <a:r>
              <a:rPr lang="en-US" sz="1800" dirty="0">
                <a:solidFill>
                  <a:srgbClr val="94A3B8"/>
                </a:solidFill>
                <a:latin typeface="Arial" pitchFamily="34" charset="0"/>
                <a:ea typeface="Arial" pitchFamily="34" charset="-122"/>
                <a:cs typeface="Arial" pitchFamily="34" charset="-120"/>
              </a:rPr>
              <a:t>Your Voice. Charter-Protected. Heard.</a:t>
            </a:r>
            <a:endParaRPr lang="en-US" sz="1800" dirty="0"/>
          </a:p>
        </p:txBody>
      </p:sp>
      <p:sp>
        <p:nvSpPr>
          <p:cNvPr id="5" name="Shape 3"/>
          <p:cNvSpPr/>
          <p:nvPr/>
        </p:nvSpPr>
        <p:spPr>
          <a:xfrm>
            <a:off x="914400" y="4023360"/>
            <a:ext cx="10332720" cy="1645920"/>
          </a:xfrm>
          <a:prstGeom prst="roundRect">
            <a:avLst>
              <a:gd name="adj" fmla="val 8333"/>
            </a:avLst>
          </a:prstGeom>
          <a:solidFill>
            <a:srgbClr val="1E293B"/>
          </a:solidFill>
          <a:ln w="19050">
            <a:solidFill>
              <a:srgbClr val="334155"/>
            </a:solidFill>
            <a:prstDash val="solid"/>
          </a:ln>
        </p:spPr>
      </p:sp>
      <p:sp>
        <p:nvSpPr>
          <p:cNvPr id="6" name="Text 4"/>
          <p:cNvSpPr/>
          <p:nvPr/>
        </p:nvSpPr>
        <p:spPr>
          <a:xfrm>
            <a:off x="1188720" y="4251960"/>
            <a:ext cx="3200400" cy="3200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 100% Identity Shield</a:t>
            </a:r>
            <a:endParaRPr lang="en-US" sz="1300" dirty="0"/>
          </a:p>
        </p:txBody>
      </p:sp>
      <p:sp>
        <p:nvSpPr>
          <p:cNvPr id="7" name="Text 5"/>
          <p:cNvSpPr/>
          <p:nvPr/>
        </p:nvSpPr>
        <p:spPr>
          <a:xfrm>
            <a:off x="1188720" y="4617720"/>
            <a:ext cx="3200400" cy="82296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Zero-knowledge anonymous reporting backed by University Peace Charter.</a:t>
            </a:r>
            <a:endParaRPr lang="en-US" sz="1000" dirty="0"/>
          </a:p>
        </p:txBody>
      </p:sp>
      <p:sp>
        <p:nvSpPr>
          <p:cNvPr id="8" name="Text 6"/>
          <p:cNvSpPr/>
          <p:nvPr/>
        </p:nvSpPr>
        <p:spPr>
          <a:xfrm>
            <a:off x="4572000" y="4251960"/>
            <a:ext cx="3200400" cy="3200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 Girl Student SOS Hotline</a:t>
            </a:r>
            <a:endParaRPr lang="en-US" sz="1300" dirty="0"/>
          </a:p>
        </p:txBody>
      </p:sp>
      <p:sp>
        <p:nvSpPr>
          <p:cNvPr id="9" name="Text 7"/>
          <p:cNvSpPr/>
          <p:nvPr/>
        </p:nvSpPr>
        <p:spPr>
          <a:xfrm>
            <a:off x="4572000" y="4617720"/>
            <a:ext cx="3200400" cy="82296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Direct 24/7 emergency dispatch and verified female security liaisons.</a:t>
            </a:r>
            <a:endParaRPr lang="en-US" sz="1000" dirty="0"/>
          </a:p>
        </p:txBody>
      </p:sp>
      <p:sp>
        <p:nvSpPr>
          <p:cNvPr id="10" name="Text 8"/>
          <p:cNvSpPr/>
          <p:nvPr/>
        </p:nvSpPr>
        <p:spPr>
          <a:xfrm>
            <a:off x="7955280" y="4251960"/>
            <a:ext cx="3200400" cy="3200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 4-Role Governance</a:t>
            </a:r>
            <a:endParaRPr lang="en-US" sz="1300" dirty="0"/>
          </a:p>
        </p:txBody>
      </p:sp>
      <p:sp>
        <p:nvSpPr>
          <p:cNvPr id="11" name="Text 9"/>
          <p:cNvSpPr/>
          <p:nvPr/>
        </p:nvSpPr>
        <p:spPr>
          <a:xfrm>
            <a:off x="7955280" y="4617720"/>
            <a:ext cx="3200400" cy="82296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Strict separation of powers between Students, Execs, Admins &amp; Super Admin.</a:t>
            </a:r>
            <a:endParaRPr lang="en-US" sz="1000" dirty="0"/>
          </a:p>
        </p:txBody>
      </p:sp>
      <p:sp>
        <p:nvSpPr>
          <p:cNvPr id="12" name="Text 10"/>
          <p:cNvSpPr/>
          <p:nvPr/>
        </p:nvSpPr>
        <p:spPr>
          <a:xfrm>
            <a:off x="914400" y="6217920"/>
            <a:ext cx="10332720" cy="2743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Lead Architect: Mohammed Hussen (awash-dev)  •  Partner: Peace Forum &amp; Student Union  •  Samara University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10698480" cy="27432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SAMARA UNIVERSITY — STUDENT VOICE &amp; SAFETY NETWORK</a:t>
            </a:r>
            <a:endParaRPr lang="en-US" sz="1000" dirty="0"/>
          </a:p>
        </p:txBody>
      </p:sp>
      <p:sp>
        <p:nvSpPr>
          <p:cNvPr id="3" name="Text 1"/>
          <p:cNvSpPr/>
          <p:nvPr/>
        </p:nvSpPr>
        <p:spPr>
          <a:xfrm>
            <a:off x="731520" y="594360"/>
            <a:ext cx="1069848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Main Purpose: Overcoming the Campus Fear Barrier</a:t>
            </a:r>
            <a:endParaRPr lang="en-US" sz="2200" dirty="0"/>
          </a:p>
        </p:txBody>
      </p:sp>
      <p:sp>
        <p:nvSpPr>
          <p:cNvPr id="4" name="Shape 2"/>
          <p:cNvSpPr/>
          <p:nvPr/>
        </p:nvSpPr>
        <p:spPr>
          <a:xfrm>
            <a:off x="731520" y="1188720"/>
            <a:ext cx="10698480" cy="0"/>
          </a:xfrm>
          <a:prstGeom prst="line">
            <a:avLst/>
          </a:prstGeom>
          <a:noFill/>
          <a:ln w="12700">
            <a:solidFill>
              <a:srgbClr val="CBD5E1"/>
            </a:solidFill>
            <a:prstDash val="solid"/>
          </a:ln>
        </p:spPr>
      </p:sp>
      <p:sp>
        <p:nvSpPr>
          <p:cNvPr id="5" name="Shape 3"/>
          <p:cNvSpPr/>
          <p:nvPr/>
        </p:nvSpPr>
        <p:spPr>
          <a:xfrm>
            <a:off x="731520" y="1463040"/>
            <a:ext cx="5120640" cy="4572000"/>
          </a:xfrm>
          <a:prstGeom prst="roundRect">
            <a:avLst>
              <a:gd name="adj" fmla="val 2400"/>
            </a:avLst>
          </a:prstGeom>
          <a:solidFill>
            <a:srgbClr val="FFFFFF"/>
          </a:solidFill>
          <a:ln w="19050">
            <a:solidFill>
              <a:srgbClr val="FECDD3"/>
            </a:solidFill>
            <a:prstDash val="solid"/>
          </a:ln>
        </p:spPr>
      </p:sp>
      <p:sp>
        <p:nvSpPr>
          <p:cNvPr id="6" name="Text 4"/>
          <p:cNvSpPr/>
          <p:nvPr/>
        </p:nvSpPr>
        <p:spPr>
          <a:xfrm>
            <a:off x="1005840" y="1645920"/>
            <a:ext cx="4572000" cy="365760"/>
          </a:xfrm>
          <a:prstGeom prst="rect">
            <a:avLst/>
          </a:prstGeom>
          <a:noFill/>
          <a:ln/>
        </p:spPr>
        <p:txBody>
          <a:bodyPr wrap="square" rtlCol="0" anchor="ctr"/>
          <a:lstStyle/>
          <a:p>
            <a:pPr indent="0" marL="0">
              <a:buNone/>
            </a:pPr>
            <a:r>
              <a:rPr lang="en-US" sz="1500" b="1" dirty="0">
                <a:solidFill>
                  <a:srgbClr val="E11D48"/>
                </a:solidFill>
                <a:latin typeface="Arial" pitchFamily="34" charset="0"/>
                <a:ea typeface="Arial" pitchFamily="34" charset="-122"/>
                <a:cs typeface="Arial" pitchFamily="34" charset="-120"/>
              </a:rPr>
              <a:t>🔴 The Traditional Campus Pain Points</a:t>
            </a:r>
            <a:endParaRPr lang="en-US" sz="1500" dirty="0"/>
          </a:p>
        </p:txBody>
      </p:sp>
      <p:sp>
        <p:nvSpPr>
          <p:cNvPr id="7" name="Text 5"/>
          <p:cNvSpPr/>
          <p:nvPr/>
        </p:nvSpPr>
        <p:spPr>
          <a:xfrm>
            <a:off x="1005840" y="2148840"/>
            <a:ext cx="4572000" cy="82296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 Fear of Retaliation: </a:t>
            </a:r>
            <a:pPr indent="0" marL="0">
              <a:buNone/>
            </a:pPr>
            <a:r>
              <a:rPr lang="en-US" sz="1100" dirty="0">
                <a:solidFill>
                  <a:srgbClr val="334155"/>
                </a:solidFill>
                <a:latin typeface="Arial" pitchFamily="34" charset="0"/>
                <a:ea typeface="Arial" pitchFamily="34" charset="-122"/>
                <a:cs typeface="Arial" pitchFamily="34" charset="-120"/>
              </a:rPr>
              <a:t>Students remain silent on sexual harassment or extortion due to fear of grade penalties or social stigma.</a:t>
            </a:r>
            <a:endParaRPr lang="en-US" sz="1100" dirty="0"/>
          </a:p>
        </p:txBody>
      </p:sp>
      <p:sp>
        <p:nvSpPr>
          <p:cNvPr id="8" name="Text 6"/>
          <p:cNvSpPr/>
          <p:nvPr/>
        </p:nvSpPr>
        <p:spPr>
          <a:xfrm>
            <a:off x="1005840" y="3063240"/>
            <a:ext cx="4572000" cy="82296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 Paper Red Tape: </a:t>
            </a:r>
            <a:pPr indent="0" marL="0">
              <a:buNone/>
            </a:pPr>
            <a:r>
              <a:rPr lang="en-US" sz="1100" dirty="0">
                <a:solidFill>
                  <a:srgbClr val="334155"/>
                </a:solidFill>
                <a:latin typeface="Arial" pitchFamily="34" charset="0"/>
                <a:ea typeface="Arial" pitchFamily="34" charset="-122"/>
                <a:cs typeface="Arial" pitchFamily="34" charset="-120"/>
              </a:rPr>
              <a:t>Manual paper submissions get lost, buried, or delayed for weeks across bureaucratic offices.</a:t>
            </a:r>
            <a:endParaRPr lang="en-US" sz="1100" dirty="0"/>
          </a:p>
        </p:txBody>
      </p:sp>
      <p:sp>
        <p:nvSpPr>
          <p:cNvPr id="9" name="Text 7"/>
          <p:cNvSpPr/>
          <p:nvPr/>
        </p:nvSpPr>
        <p:spPr>
          <a:xfrm>
            <a:off x="1005840" y="3977640"/>
            <a:ext cx="4572000" cy="82296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 Conflict of Interest: </a:t>
            </a:r>
            <a:pPr indent="0" marL="0">
              <a:buNone/>
            </a:pPr>
            <a:r>
              <a:rPr lang="en-US" sz="1100" dirty="0">
                <a:solidFill>
                  <a:srgbClr val="334155"/>
                </a:solidFill>
                <a:latin typeface="Arial" pitchFamily="34" charset="0"/>
                <a:ea typeface="Arial" pitchFamily="34" charset="-122"/>
                <a:cs typeface="Arial" pitchFamily="34" charset="-120"/>
              </a:rPr>
              <a:t>Complaints handled by peer representatives risk gossip, privacy leaks, and bias.</a:t>
            </a:r>
            <a:endParaRPr lang="en-US" sz="1100" dirty="0"/>
          </a:p>
        </p:txBody>
      </p:sp>
      <p:sp>
        <p:nvSpPr>
          <p:cNvPr id="10" name="Text 8"/>
          <p:cNvSpPr/>
          <p:nvPr/>
        </p:nvSpPr>
        <p:spPr>
          <a:xfrm>
            <a:off x="1005840" y="4892040"/>
            <a:ext cx="4572000" cy="82296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 Scattered Emergency Contacts: </a:t>
            </a:r>
            <a:pPr indent="0" marL="0">
              <a:buNone/>
            </a:pPr>
            <a:r>
              <a:rPr lang="en-US" sz="1100" dirty="0">
                <a:solidFill>
                  <a:srgbClr val="334155"/>
                </a:solidFill>
                <a:latin typeface="Arial" pitchFamily="34" charset="0"/>
                <a:ea typeface="Arial" pitchFamily="34" charset="-122"/>
                <a:cs typeface="Arial" pitchFamily="34" charset="-120"/>
              </a:rPr>
              <a:t>Students lack immediate access to verified, working campus emergency numbers during night crises.</a:t>
            </a:r>
            <a:endParaRPr lang="en-US" sz="1100" dirty="0"/>
          </a:p>
        </p:txBody>
      </p:sp>
      <p:sp>
        <p:nvSpPr>
          <p:cNvPr id="11" name="Shape 9"/>
          <p:cNvSpPr/>
          <p:nvPr/>
        </p:nvSpPr>
        <p:spPr>
          <a:xfrm>
            <a:off x="6217920" y="1463040"/>
            <a:ext cx="5212080" cy="4572000"/>
          </a:xfrm>
          <a:prstGeom prst="roundRect">
            <a:avLst>
              <a:gd name="adj" fmla="val 2400"/>
            </a:avLst>
          </a:prstGeom>
          <a:solidFill>
            <a:srgbClr val="FFFFFF"/>
          </a:solidFill>
          <a:ln w="19050">
            <a:solidFill>
              <a:srgbClr val="BFDBFE"/>
            </a:solidFill>
            <a:prstDash val="solid"/>
          </a:ln>
        </p:spPr>
      </p:sp>
      <p:sp>
        <p:nvSpPr>
          <p:cNvPr id="12" name="Text 10"/>
          <p:cNvSpPr/>
          <p:nvPr/>
        </p:nvSpPr>
        <p:spPr>
          <a:xfrm>
            <a:off x="6492240" y="1645920"/>
            <a:ext cx="4663440" cy="365760"/>
          </a:xfrm>
          <a:prstGeom prst="rect">
            <a:avLst/>
          </a:prstGeom>
          <a:noFill/>
          <a:ln/>
        </p:spPr>
        <p:txBody>
          <a:bodyPr wrap="square" rtlCol="0" anchor="ctr"/>
          <a:lstStyle/>
          <a:p>
            <a:pPr indent="0" marL="0">
              <a:buNone/>
            </a:pPr>
            <a:r>
              <a:rPr lang="en-US" sz="1500" b="1" dirty="0">
                <a:solidFill>
                  <a:srgbClr val="2563EB"/>
                </a:solidFill>
                <a:latin typeface="Arial" pitchFamily="34" charset="0"/>
                <a:ea typeface="Arial" pitchFamily="34" charset="-122"/>
                <a:cs typeface="Arial" pitchFamily="34" charset="-120"/>
              </a:rPr>
              <a:t>🔵 The Student Voice Platform Solution</a:t>
            </a:r>
            <a:endParaRPr lang="en-US" sz="1500" dirty="0"/>
          </a:p>
        </p:txBody>
      </p:sp>
      <p:sp>
        <p:nvSpPr>
          <p:cNvPr id="13" name="Text 11"/>
          <p:cNvSpPr/>
          <p:nvPr/>
        </p:nvSpPr>
        <p:spPr>
          <a:xfrm>
            <a:off x="6492240" y="2148840"/>
            <a:ext cx="4663440" cy="822960"/>
          </a:xfrm>
          <a:prstGeom prst="rect">
            <a:avLst/>
          </a:prstGeom>
          <a:noFill/>
          <a:ln/>
        </p:spPr>
        <p:txBody>
          <a:bodyPr wrap="square" rtlCol="0" anchor="ctr"/>
          <a:lstStyle/>
          <a:p>
            <a:pPr indent="0" marL="0">
              <a:buNone/>
            </a:pPr>
            <a:r>
              <a:rPr lang="en-US" sz="1100" b="1" dirty="0">
                <a:solidFill>
                  <a:srgbClr val="2563EB"/>
                </a:solidFill>
                <a:latin typeface="Arial" pitchFamily="34" charset="0"/>
                <a:ea typeface="Arial" pitchFamily="34" charset="-122"/>
                <a:cs typeface="Arial" pitchFamily="34" charset="-120"/>
              </a:rPr>
              <a:t>✔ Charter-Protected Anonymity: </a:t>
            </a:r>
            <a:pPr indent="0" marL="0">
              <a:buNone/>
            </a:pPr>
            <a:r>
              <a:rPr lang="en-US" sz="1100" dirty="0">
                <a:solidFill>
                  <a:srgbClr val="334155"/>
                </a:solidFill>
                <a:latin typeface="Arial" pitchFamily="34" charset="0"/>
                <a:ea typeface="Arial" pitchFamily="34" charset="-122"/>
                <a:cs typeface="Arial" pitchFamily="34" charset="-120"/>
              </a:rPr>
              <a:t>Submissions strip student identity at the DB level, allowing 100% candid reporting.</a:t>
            </a:r>
            <a:endParaRPr lang="en-US" sz="1100" dirty="0"/>
          </a:p>
        </p:txBody>
      </p:sp>
      <p:sp>
        <p:nvSpPr>
          <p:cNvPr id="14" name="Text 12"/>
          <p:cNvSpPr/>
          <p:nvPr/>
        </p:nvSpPr>
        <p:spPr>
          <a:xfrm>
            <a:off x="6492240" y="3063240"/>
            <a:ext cx="4663440" cy="822960"/>
          </a:xfrm>
          <a:prstGeom prst="rect">
            <a:avLst/>
          </a:prstGeom>
          <a:noFill/>
          <a:ln/>
        </p:spPr>
        <p:txBody>
          <a:bodyPr wrap="square" rtlCol="0" anchor="ctr"/>
          <a:lstStyle/>
          <a:p>
            <a:pPr indent="0" marL="0">
              <a:buNone/>
            </a:pPr>
            <a:r>
              <a:rPr lang="en-US" sz="1100" b="1" dirty="0">
                <a:solidFill>
                  <a:srgbClr val="2563EB"/>
                </a:solidFill>
                <a:latin typeface="Arial" pitchFamily="34" charset="0"/>
                <a:ea typeface="Arial" pitchFamily="34" charset="-122"/>
                <a:cs typeface="Arial" pitchFamily="34" charset="-120"/>
              </a:rPr>
              <a:t>✔ Real-Time Digital Triage: </a:t>
            </a:r>
            <a:pPr indent="0" marL="0">
              <a:buNone/>
            </a:pPr>
            <a:r>
              <a:rPr lang="en-US" sz="1100" dirty="0">
                <a:solidFill>
                  <a:srgbClr val="334155"/>
                </a:solidFill>
                <a:latin typeface="Arial" pitchFamily="34" charset="0"/>
                <a:ea typeface="Arial" pitchFamily="34" charset="-122"/>
                <a:cs typeface="Arial" pitchFamily="34" charset="-120"/>
              </a:rPr>
              <a:t>Automated queue management delivers initial case review in under 24 hours.</a:t>
            </a:r>
            <a:endParaRPr lang="en-US" sz="1100" dirty="0"/>
          </a:p>
        </p:txBody>
      </p:sp>
      <p:sp>
        <p:nvSpPr>
          <p:cNvPr id="15" name="Text 13"/>
          <p:cNvSpPr/>
          <p:nvPr/>
        </p:nvSpPr>
        <p:spPr>
          <a:xfrm>
            <a:off x="6492240" y="3977640"/>
            <a:ext cx="4663440" cy="822960"/>
          </a:xfrm>
          <a:prstGeom prst="rect">
            <a:avLst/>
          </a:prstGeom>
          <a:noFill/>
          <a:ln/>
        </p:spPr>
        <p:txBody>
          <a:bodyPr wrap="square" rtlCol="0" anchor="ctr"/>
          <a:lstStyle/>
          <a:p>
            <a:pPr indent="0" marL="0">
              <a:buNone/>
            </a:pPr>
            <a:r>
              <a:rPr lang="en-US" sz="1100" b="1" dirty="0">
                <a:solidFill>
                  <a:srgbClr val="2563EB"/>
                </a:solidFill>
                <a:latin typeface="Arial" pitchFamily="34" charset="0"/>
                <a:ea typeface="Arial" pitchFamily="34" charset="-122"/>
                <a:cs typeface="Arial" pitchFamily="34" charset="-120"/>
              </a:rPr>
              <a:t>✔ Harassment Isolation Principle: </a:t>
            </a:r>
            <a:pPr indent="0" marL="0">
              <a:buNone/>
            </a:pPr>
            <a:r>
              <a:rPr lang="en-US" sz="1100" dirty="0">
                <a:solidFill>
                  <a:srgbClr val="334155"/>
                </a:solidFill>
                <a:latin typeface="Arial" pitchFamily="34" charset="0"/>
                <a:ea typeface="Arial" pitchFamily="34" charset="-122"/>
                <a:cs typeface="Arial" pitchFamily="34" charset="-120"/>
              </a:rPr>
              <a:t>Severe harassment is routed exclusively to Super Admin (Dean of Student Affairs), never to peers.</a:t>
            </a:r>
            <a:endParaRPr lang="en-US" sz="1100" dirty="0"/>
          </a:p>
        </p:txBody>
      </p:sp>
      <p:sp>
        <p:nvSpPr>
          <p:cNvPr id="16" name="Text 14"/>
          <p:cNvSpPr/>
          <p:nvPr/>
        </p:nvSpPr>
        <p:spPr>
          <a:xfrm>
            <a:off x="6492240" y="4892040"/>
            <a:ext cx="4663440" cy="822960"/>
          </a:xfrm>
          <a:prstGeom prst="rect">
            <a:avLst/>
          </a:prstGeom>
          <a:noFill/>
          <a:ln/>
        </p:spPr>
        <p:txBody>
          <a:bodyPr wrap="square" rtlCol="0" anchor="ctr"/>
          <a:lstStyle/>
          <a:p>
            <a:pPr indent="0" marL="0">
              <a:buNone/>
            </a:pPr>
            <a:r>
              <a:rPr lang="en-US" sz="1100" b="1" dirty="0">
                <a:solidFill>
                  <a:srgbClr val="2563EB"/>
                </a:solidFill>
                <a:latin typeface="Arial" pitchFamily="34" charset="0"/>
                <a:ea typeface="Arial" pitchFamily="34" charset="-122"/>
                <a:cs typeface="Arial" pitchFamily="34" charset="-120"/>
              </a:rPr>
              <a:t>✔ Unified Safety Hub: </a:t>
            </a:r>
            <a:pPr indent="0" marL="0">
              <a:buNone/>
            </a:pPr>
            <a:r>
              <a:rPr lang="en-US" sz="1100" dirty="0">
                <a:solidFill>
                  <a:srgbClr val="334155"/>
                </a:solidFill>
                <a:latin typeface="Arial" pitchFamily="34" charset="0"/>
                <a:ea typeface="Arial" pitchFamily="34" charset="-122"/>
                <a:cs typeface="Arial" pitchFamily="34" charset="-120"/>
              </a:rPr>
              <a:t>Live-managed 24/7 crisis numbers and one-tap emergency calling always visible in header.</a:t>
            </a:r>
            <a:endParaRPr lang="en-US" sz="1100" dirty="0"/>
          </a:p>
        </p:txBody>
      </p:sp>
      <p:sp>
        <p:nvSpPr>
          <p:cNvPr id="17" name="Text 15"/>
          <p:cNvSpPr/>
          <p:nvPr/>
        </p:nvSpPr>
        <p:spPr>
          <a:xfrm>
            <a:off x="731520" y="6400800"/>
            <a:ext cx="1069848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Samara Student Voices | Confidential &amp; Charter-Protected | Slide 2 of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10698480" cy="27432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SAMARA UNIVERSITY — STUDENT VOICE &amp; SAFETY NETWORK</a:t>
            </a:r>
            <a:endParaRPr lang="en-US" sz="1000" dirty="0"/>
          </a:p>
        </p:txBody>
      </p:sp>
      <p:sp>
        <p:nvSpPr>
          <p:cNvPr id="3" name="Text 1"/>
          <p:cNvSpPr/>
          <p:nvPr/>
        </p:nvSpPr>
        <p:spPr>
          <a:xfrm>
            <a:off x="731520" y="594360"/>
            <a:ext cx="1069848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Institutional Support &amp; Leadership Collaboration</a:t>
            </a:r>
            <a:endParaRPr lang="en-US" sz="2200" dirty="0"/>
          </a:p>
        </p:txBody>
      </p:sp>
      <p:sp>
        <p:nvSpPr>
          <p:cNvPr id="4" name="Shape 2"/>
          <p:cNvSpPr/>
          <p:nvPr/>
        </p:nvSpPr>
        <p:spPr>
          <a:xfrm>
            <a:off x="731520" y="1188720"/>
            <a:ext cx="10698480" cy="0"/>
          </a:xfrm>
          <a:prstGeom prst="line">
            <a:avLst/>
          </a:prstGeom>
          <a:noFill/>
          <a:ln w="12700">
            <a:solidFill>
              <a:srgbClr val="CBD5E1"/>
            </a:solidFill>
            <a:prstDash val="solid"/>
          </a:ln>
        </p:spPr>
      </p:sp>
      <p:sp>
        <p:nvSpPr>
          <p:cNvPr id="5" name="Shape 3"/>
          <p:cNvSpPr/>
          <p:nvPr/>
        </p:nvSpPr>
        <p:spPr>
          <a:xfrm>
            <a:off x="731520" y="1463040"/>
            <a:ext cx="3383280" cy="4572000"/>
          </a:xfrm>
          <a:prstGeom prst="roundRect">
            <a:avLst>
              <a:gd name="adj" fmla="val 3243"/>
            </a:avLst>
          </a:prstGeom>
          <a:solidFill>
            <a:srgbClr val="FFFFFF"/>
          </a:solidFill>
          <a:ln w="19050">
            <a:solidFill>
              <a:srgbClr val="BFDBFE"/>
            </a:solidFill>
            <a:prstDash val="solid"/>
          </a:ln>
        </p:spPr>
      </p:sp>
      <p:sp>
        <p:nvSpPr>
          <p:cNvPr id="6" name="Shape 4"/>
          <p:cNvSpPr/>
          <p:nvPr/>
        </p:nvSpPr>
        <p:spPr>
          <a:xfrm>
            <a:off x="914400" y="1645920"/>
            <a:ext cx="3017520" cy="320040"/>
          </a:xfrm>
          <a:prstGeom prst="roundRect">
            <a:avLst>
              <a:gd name="adj" fmla="val 22857"/>
            </a:avLst>
          </a:prstGeom>
          <a:solidFill>
            <a:srgbClr val="EFF6FF"/>
          </a:solidFill>
          <a:ln w="12700">
            <a:solidFill>
              <a:srgbClr val="BFDBFE"/>
            </a:solidFill>
            <a:prstDash val="solid"/>
          </a:ln>
        </p:spPr>
      </p:sp>
      <p:sp>
        <p:nvSpPr>
          <p:cNvPr id="7" name="Text 5"/>
          <p:cNvSpPr/>
          <p:nvPr/>
        </p:nvSpPr>
        <p:spPr>
          <a:xfrm>
            <a:off x="914400" y="1691640"/>
            <a:ext cx="3017520" cy="228600"/>
          </a:xfrm>
          <a:prstGeom prst="rect">
            <a:avLst/>
          </a:prstGeom>
          <a:noFill/>
          <a:ln/>
        </p:spPr>
        <p:txBody>
          <a:bodyPr wrap="square" rtlCol="0" anchor="ctr"/>
          <a:lstStyle/>
          <a:p>
            <a:pPr algn="ctr" indent="0" marL="0">
              <a:buNone/>
            </a:pPr>
            <a:r>
              <a:rPr lang="en-US" sz="900" b="1" dirty="0">
                <a:solidFill>
                  <a:srgbClr val="2563EB"/>
                </a:solidFill>
                <a:latin typeface="Arial" pitchFamily="34" charset="0"/>
                <a:ea typeface="Arial" pitchFamily="34" charset="-122"/>
                <a:cs typeface="Arial" pitchFamily="34" charset="-120"/>
              </a:rPr>
              <a:t>LEAD DEVELOPER &amp; ARCHITECT</a:t>
            </a:r>
            <a:endParaRPr lang="en-US" sz="900" dirty="0"/>
          </a:p>
        </p:txBody>
      </p:sp>
      <p:sp>
        <p:nvSpPr>
          <p:cNvPr id="8" name="Text 6"/>
          <p:cNvSpPr/>
          <p:nvPr/>
        </p:nvSpPr>
        <p:spPr>
          <a:xfrm>
            <a:off x="914400" y="2103120"/>
            <a:ext cx="3017520" cy="457200"/>
          </a:xfrm>
          <a:prstGeom prst="rect">
            <a:avLst/>
          </a:prstGeom>
          <a:noFill/>
          <a:ln/>
        </p:spPr>
        <p:txBody>
          <a:bodyPr wrap="square" rtlCol="0" anchor="ctr"/>
          <a:lstStyle/>
          <a:p>
            <a:pPr algn="ctr" indent="0" marL="0">
              <a:buNone/>
            </a:pPr>
            <a:r>
              <a:rPr lang="en-US" sz="1300" b="1" dirty="0">
                <a:solidFill>
                  <a:srgbClr val="0F172A"/>
                </a:solidFill>
                <a:latin typeface="Arial" pitchFamily="34" charset="0"/>
                <a:ea typeface="Arial" pitchFamily="34" charset="-122"/>
                <a:cs typeface="Arial" pitchFamily="34" charset="-120"/>
              </a:rPr>
              <a:t>Mohammed Hussen (awash-dev)</a:t>
            </a:r>
            <a:endParaRPr lang="en-US" sz="1300" dirty="0"/>
          </a:p>
        </p:txBody>
      </p:sp>
      <p:sp>
        <p:nvSpPr>
          <p:cNvPr id="9" name="Text 7"/>
          <p:cNvSpPr/>
          <p:nvPr/>
        </p:nvSpPr>
        <p:spPr>
          <a:xfrm>
            <a:off x="914400" y="2560320"/>
            <a:ext cx="3017520" cy="274320"/>
          </a:xfrm>
          <a:prstGeom prst="rect">
            <a:avLst/>
          </a:prstGeom>
          <a:noFill/>
          <a:ln/>
        </p:spPr>
        <p:txBody>
          <a:bodyPr wrap="square"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Independent Lead Software Architect</a:t>
            </a:r>
            <a:endParaRPr lang="en-US" sz="1000" dirty="0"/>
          </a:p>
        </p:txBody>
      </p:sp>
      <p:sp>
        <p:nvSpPr>
          <p:cNvPr id="10" name="Shape 8"/>
          <p:cNvSpPr/>
          <p:nvPr/>
        </p:nvSpPr>
        <p:spPr>
          <a:xfrm>
            <a:off x="1005840" y="2926080"/>
            <a:ext cx="2834640" cy="0"/>
          </a:xfrm>
          <a:prstGeom prst="line">
            <a:avLst/>
          </a:prstGeom>
          <a:noFill/>
          <a:ln w="12700">
            <a:solidFill>
              <a:srgbClr val="E2E8F0"/>
            </a:solidFill>
            <a:prstDash val="solid"/>
          </a:ln>
        </p:spPr>
      </p:sp>
      <p:sp>
        <p:nvSpPr>
          <p:cNvPr id="11" name="Text 9"/>
          <p:cNvSpPr/>
          <p:nvPr/>
        </p:nvSpPr>
        <p:spPr>
          <a:xfrm>
            <a:off x="960120" y="3108960"/>
            <a:ext cx="2926080" cy="640080"/>
          </a:xfrm>
          <a:prstGeom prst="rect">
            <a:avLst/>
          </a:prstGeom>
          <a:noFill/>
          <a:ln/>
        </p:spPr>
        <p:txBody>
          <a:bodyPr wrap="square" rtlCol="0" anchor="ctr"/>
          <a:lstStyle/>
          <a:p>
            <a:pPr indent="0" marL="0">
              <a:buNone/>
            </a:pPr>
            <a:r>
              <a:rPr lang="en-US" sz="1000" dirty="0">
                <a:solidFill>
                  <a:srgbClr val="334155"/>
                </a:solidFill>
                <a:latin typeface="Arial" pitchFamily="34" charset="0"/>
                <a:ea typeface="Arial" pitchFamily="34" charset="-122"/>
                <a:cs typeface="Arial" pitchFamily="34" charset="-120"/>
              </a:rPr>
              <a:t>• Designed end-to-end cloud database &amp; Next.js full-stack system</a:t>
            </a:r>
            <a:endParaRPr lang="en-US" sz="1000" dirty="0"/>
          </a:p>
        </p:txBody>
      </p:sp>
      <p:sp>
        <p:nvSpPr>
          <p:cNvPr id="12" name="Text 10"/>
          <p:cNvSpPr/>
          <p:nvPr/>
        </p:nvSpPr>
        <p:spPr>
          <a:xfrm>
            <a:off x="960120" y="3794760"/>
            <a:ext cx="2926080" cy="640080"/>
          </a:xfrm>
          <a:prstGeom prst="rect">
            <a:avLst/>
          </a:prstGeom>
          <a:noFill/>
          <a:ln/>
        </p:spPr>
        <p:txBody>
          <a:bodyPr wrap="square" rtlCol="0" anchor="ctr"/>
          <a:lstStyle/>
          <a:p>
            <a:pPr indent="0" marL="0">
              <a:buNone/>
            </a:pPr>
            <a:r>
              <a:rPr lang="en-US" sz="1000" dirty="0">
                <a:solidFill>
                  <a:srgbClr val="334155"/>
                </a:solidFill>
                <a:latin typeface="Arial" pitchFamily="34" charset="0"/>
                <a:ea typeface="Arial" pitchFamily="34" charset="-122"/>
                <a:cs typeface="Arial" pitchFamily="34" charset="-120"/>
              </a:rPr>
              <a:t>• Implemented custom zero-knowledge identity stripping proxy</a:t>
            </a:r>
            <a:endParaRPr lang="en-US" sz="1000" dirty="0"/>
          </a:p>
        </p:txBody>
      </p:sp>
      <p:sp>
        <p:nvSpPr>
          <p:cNvPr id="13" name="Text 11"/>
          <p:cNvSpPr/>
          <p:nvPr/>
        </p:nvSpPr>
        <p:spPr>
          <a:xfrm>
            <a:off x="960120" y="4480560"/>
            <a:ext cx="2926080" cy="640080"/>
          </a:xfrm>
          <a:prstGeom prst="rect">
            <a:avLst/>
          </a:prstGeom>
          <a:noFill/>
          <a:ln/>
        </p:spPr>
        <p:txBody>
          <a:bodyPr wrap="square" rtlCol="0" anchor="ctr"/>
          <a:lstStyle/>
          <a:p>
            <a:pPr indent="0" marL="0">
              <a:buNone/>
            </a:pPr>
            <a:r>
              <a:rPr lang="en-US" sz="1000" dirty="0">
                <a:solidFill>
                  <a:srgbClr val="334155"/>
                </a:solidFill>
                <a:latin typeface="Arial" pitchFamily="34" charset="0"/>
                <a:ea typeface="Arial" pitchFamily="34" charset="-122"/>
                <a:cs typeface="Arial" pitchFamily="34" charset="-120"/>
              </a:rPr>
              <a:t>• Built full role governance and automated incident dispatching</a:t>
            </a:r>
            <a:endParaRPr lang="en-US" sz="1000" dirty="0"/>
          </a:p>
        </p:txBody>
      </p:sp>
      <p:sp>
        <p:nvSpPr>
          <p:cNvPr id="14" name="Text 12"/>
          <p:cNvSpPr/>
          <p:nvPr/>
        </p:nvSpPr>
        <p:spPr>
          <a:xfrm>
            <a:off x="960120" y="5166360"/>
            <a:ext cx="2926080" cy="640080"/>
          </a:xfrm>
          <a:prstGeom prst="rect">
            <a:avLst/>
          </a:prstGeom>
          <a:noFill/>
          <a:ln/>
        </p:spPr>
        <p:txBody>
          <a:bodyPr wrap="square" rtlCol="0" anchor="ctr"/>
          <a:lstStyle/>
          <a:p>
            <a:pPr indent="0" marL="0">
              <a:buNone/>
            </a:pPr>
            <a:r>
              <a:rPr lang="en-US" sz="1000" dirty="0">
                <a:solidFill>
                  <a:srgbClr val="334155"/>
                </a:solidFill>
                <a:latin typeface="Arial" pitchFamily="34" charset="0"/>
                <a:ea typeface="Arial" pitchFamily="34" charset="-122"/>
                <a:cs typeface="Arial" pitchFamily="34" charset="-120"/>
              </a:rPr>
              <a:t>• Portfolio: portfolis.pro.et  |  GitHub: @awash-dev</a:t>
            </a:r>
            <a:endParaRPr lang="en-US" sz="1000" dirty="0"/>
          </a:p>
        </p:txBody>
      </p:sp>
      <p:sp>
        <p:nvSpPr>
          <p:cNvPr id="15" name="Shape 13"/>
          <p:cNvSpPr/>
          <p:nvPr/>
        </p:nvSpPr>
        <p:spPr>
          <a:xfrm>
            <a:off x="4389120" y="1463040"/>
            <a:ext cx="3383280" cy="4572000"/>
          </a:xfrm>
          <a:prstGeom prst="roundRect">
            <a:avLst>
              <a:gd name="adj" fmla="val 3243"/>
            </a:avLst>
          </a:prstGeom>
          <a:solidFill>
            <a:srgbClr val="FFFFFF"/>
          </a:solidFill>
          <a:ln w="19050">
            <a:solidFill>
              <a:srgbClr val="A7F3D0"/>
            </a:solidFill>
            <a:prstDash val="solid"/>
          </a:ln>
        </p:spPr>
      </p:sp>
      <p:sp>
        <p:nvSpPr>
          <p:cNvPr id="16" name="Shape 14"/>
          <p:cNvSpPr/>
          <p:nvPr/>
        </p:nvSpPr>
        <p:spPr>
          <a:xfrm>
            <a:off x="4572000" y="1645920"/>
            <a:ext cx="3017520" cy="320040"/>
          </a:xfrm>
          <a:prstGeom prst="roundRect">
            <a:avLst>
              <a:gd name="adj" fmla="val 22857"/>
            </a:avLst>
          </a:prstGeom>
          <a:solidFill>
            <a:srgbClr val="ECFDF5"/>
          </a:solidFill>
          <a:ln w="12700">
            <a:solidFill>
              <a:srgbClr val="A7F3D0"/>
            </a:solidFill>
            <a:prstDash val="solid"/>
          </a:ln>
        </p:spPr>
      </p:sp>
      <p:sp>
        <p:nvSpPr>
          <p:cNvPr id="17" name="Text 15"/>
          <p:cNvSpPr/>
          <p:nvPr/>
        </p:nvSpPr>
        <p:spPr>
          <a:xfrm>
            <a:off x="4572000" y="1691640"/>
            <a:ext cx="3017520" cy="228600"/>
          </a:xfrm>
          <a:prstGeom prst="rect">
            <a:avLst/>
          </a:prstGeom>
          <a:noFill/>
          <a:ln/>
        </p:spPr>
        <p:txBody>
          <a:bodyPr wrap="square" rtlCol="0" anchor="ctr"/>
          <a:lstStyle/>
          <a:p>
            <a:pPr algn="ctr" indent="0" marL="0">
              <a:buNone/>
            </a:pPr>
            <a:r>
              <a:rPr lang="en-US" sz="900" b="1" dirty="0">
                <a:solidFill>
                  <a:srgbClr val="059669"/>
                </a:solidFill>
                <a:latin typeface="Arial" pitchFamily="34" charset="0"/>
                <a:ea typeface="Arial" pitchFamily="34" charset="-122"/>
                <a:cs typeface="Arial" pitchFamily="34" charset="-120"/>
              </a:rPr>
              <a:t>INSTITUTIONAL SUPPORTER &amp; PARTNER</a:t>
            </a:r>
            <a:endParaRPr lang="en-US" sz="900" dirty="0"/>
          </a:p>
        </p:txBody>
      </p:sp>
      <p:sp>
        <p:nvSpPr>
          <p:cNvPr id="18" name="Text 16"/>
          <p:cNvSpPr/>
          <p:nvPr/>
        </p:nvSpPr>
        <p:spPr>
          <a:xfrm>
            <a:off x="4572000" y="2103120"/>
            <a:ext cx="3017520" cy="457200"/>
          </a:xfrm>
          <a:prstGeom prst="rect">
            <a:avLst/>
          </a:prstGeom>
          <a:noFill/>
          <a:ln/>
        </p:spPr>
        <p:txBody>
          <a:bodyPr wrap="square" rtlCol="0" anchor="ctr"/>
          <a:lstStyle/>
          <a:p>
            <a:pPr algn="ctr" indent="0" marL="0">
              <a:buNone/>
            </a:pPr>
            <a:r>
              <a:rPr lang="en-US" sz="1300" b="1" dirty="0">
                <a:solidFill>
                  <a:srgbClr val="0F172A"/>
                </a:solidFill>
                <a:latin typeface="Arial" pitchFamily="34" charset="0"/>
                <a:ea typeface="Arial" pitchFamily="34" charset="-122"/>
                <a:cs typeface="Arial" pitchFamily="34" charset="-120"/>
              </a:rPr>
              <a:t>Peace Forum &amp; Student Union</a:t>
            </a:r>
            <a:endParaRPr lang="en-US" sz="1300" dirty="0"/>
          </a:p>
        </p:txBody>
      </p:sp>
      <p:sp>
        <p:nvSpPr>
          <p:cNvPr id="19" name="Text 17"/>
          <p:cNvSpPr/>
          <p:nvPr/>
        </p:nvSpPr>
        <p:spPr>
          <a:xfrm>
            <a:off x="4572000" y="2560320"/>
            <a:ext cx="3017520" cy="274320"/>
          </a:xfrm>
          <a:prstGeom prst="rect">
            <a:avLst/>
          </a:prstGeom>
          <a:noFill/>
          <a:ln/>
        </p:spPr>
        <p:txBody>
          <a:bodyPr wrap="square"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Samara University Student Community</a:t>
            </a:r>
            <a:endParaRPr lang="en-US" sz="1000" dirty="0"/>
          </a:p>
        </p:txBody>
      </p:sp>
      <p:sp>
        <p:nvSpPr>
          <p:cNvPr id="20" name="Shape 18"/>
          <p:cNvSpPr/>
          <p:nvPr/>
        </p:nvSpPr>
        <p:spPr>
          <a:xfrm>
            <a:off x="4663440" y="2926080"/>
            <a:ext cx="2834640" cy="0"/>
          </a:xfrm>
          <a:prstGeom prst="line">
            <a:avLst/>
          </a:prstGeom>
          <a:noFill/>
          <a:ln w="12700">
            <a:solidFill>
              <a:srgbClr val="E2E8F0"/>
            </a:solidFill>
            <a:prstDash val="solid"/>
          </a:ln>
        </p:spPr>
      </p:sp>
      <p:sp>
        <p:nvSpPr>
          <p:cNvPr id="21" name="Text 19"/>
          <p:cNvSpPr/>
          <p:nvPr/>
        </p:nvSpPr>
        <p:spPr>
          <a:xfrm>
            <a:off x="4617720" y="3108960"/>
            <a:ext cx="2926080" cy="640080"/>
          </a:xfrm>
          <a:prstGeom prst="rect">
            <a:avLst/>
          </a:prstGeom>
          <a:noFill/>
          <a:ln/>
        </p:spPr>
        <p:txBody>
          <a:bodyPr wrap="square" rtlCol="0" anchor="ctr"/>
          <a:lstStyle/>
          <a:p>
            <a:pPr indent="0" marL="0">
              <a:buNone/>
            </a:pPr>
            <a:r>
              <a:rPr lang="en-US" sz="1000" dirty="0">
                <a:solidFill>
                  <a:srgbClr val="334155"/>
                </a:solidFill>
                <a:latin typeface="Arial" pitchFamily="34" charset="0"/>
                <a:ea typeface="Arial" pitchFamily="34" charset="-122"/>
                <a:cs typeface="Arial" pitchFamily="34" charset="-120"/>
              </a:rPr>
              <a:t>• Official co-sponsor ensuring campus-wide student representation</a:t>
            </a:r>
            <a:endParaRPr lang="en-US" sz="1000" dirty="0"/>
          </a:p>
        </p:txBody>
      </p:sp>
      <p:sp>
        <p:nvSpPr>
          <p:cNvPr id="22" name="Text 20"/>
          <p:cNvSpPr/>
          <p:nvPr/>
        </p:nvSpPr>
        <p:spPr>
          <a:xfrm>
            <a:off x="4617720" y="3794760"/>
            <a:ext cx="2926080" cy="640080"/>
          </a:xfrm>
          <a:prstGeom prst="rect">
            <a:avLst/>
          </a:prstGeom>
          <a:noFill/>
          <a:ln/>
        </p:spPr>
        <p:txBody>
          <a:bodyPr wrap="square" rtlCol="0" anchor="ctr"/>
          <a:lstStyle/>
          <a:p>
            <a:pPr indent="0" marL="0">
              <a:buNone/>
            </a:pPr>
            <a:r>
              <a:rPr lang="en-US" sz="1000" dirty="0">
                <a:solidFill>
                  <a:srgbClr val="334155"/>
                </a:solidFill>
                <a:latin typeface="Arial" pitchFamily="34" charset="0"/>
                <a:ea typeface="Arial" pitchFamily="34" charset="-122"/>
                <a:cs typeface="Arial" pitchFamily="34" charset="-120"/>
              </a:rPr>
              <a:t>• Provides student guidance and feedback channel alignment</a:t>
            </a:r>
            <a:endParaRPr lang="en-US" sz="1000" dirty="0"/>
          </a:p>
        </p:txBody>
      </p:sp>
      <p:sp>
        <p:nvSpPr>
          <p:cNvPr id="23" name="Text 21"/>
          <p:cNvSpPr/>
          <p:nvPr/>
        </p:nvSpPr>
        <p:spPr>
          <a:xfrm>
            <a:off x="4617720" y="4480560"/>
            <a:ext cx="2926080" cy="640080"/>
          </a:xfrm>
          <a:prstGeom prst="rect">
            <a:avLst/>
          </a:prstGeom>
          <a:noFill/>
          <a:ln/>
        </p:spPr>
        <p:txBody>
          <a:bodyPr wrap="square" rtlCol="0" anchor="ctr"/>
          <a:lstStyle/>
          <a:p>
            <a:pPr indent="0" marL="0">
              <a:buNone/>
            </a:pPr>
            <a:r>
              <a:rPr lang="en-US" sz="1000" dirty="0">
                <a:solidFill>
                  <a:srgbClr val="334155"/>
                </a:solidFill>
                <a:latin typeface="Arial" pitchFamily="34" charset="0"/>
                <a:ea typeface="Arial" pitchFamily="34" charset="-122"/>
                <a:cs typeface="Arial" pitchFamily="34" charset="-120"/>
              </a:rPr>
              <a:t>• Ensures alignment with university anti-retaliation charter</a:t>
            </a:r>
            <a:endParaRPr lang="en-US" sz="1000" dirty="0"/>
          </a:p>
        </p:txBody>
      </p:sp>
      <p:sp>
        <p:nvSpPr>
          <p:cNvPr id="24" name="Text 22"/>
          <p:cNvSpPr/>
          <p:nvPr/>
        </p:nvSpPr>
        <p:spPr>
          <a:xfrm>
            <a:off x="4617720" y="5166360"/>
            <a:ext cx="2926080" cy="640080"/>
          </a:xfrm>
          <a:prstGeom prst="rect">
            <a:avLst/>
          </a:prstGeom>
          <a:noFill/>
          <a:ln/>
        </p:spPr>
        <p:txBody>
          <a:bodyPr wrap="square" rtlCol="0" anchor="ctr"/>
          <a:lstStyle/>
          <a:p>
            <a:pPr indent="0" marL="0">
              <a:buNone/>
            </a:pPr>
            <a:r>
              <a:rPr lang="en-US" sz="1000" dirty="0">
                <a:solidFill>
                  <a:srgbClr val="334155"/>
                </a:solidFill>
                <a:latin typeface="Arial" pitchFamily="34" charset="0"/>
                <a:ea typeface="Arial" pitchFamily="34" charset="-122"/>
                <a:cs typeface="Arial" pitchFamily="34" charset="-120"/>
              </a:rPr>
              <a:t>• Partner Portal: su.greenafricafarm.com</a:t>
            </a:r>
            <a:endParaRPr lang="en-US" sz="1000" dirty="0"/>
          </a:p>
        </p:txBody>
      </p:sp>
      <p:sp>
        <p:nvSpPr>
          <p:cNvPr id="25" name="Shape 23"/>
          <p:cNvSpPr/>
          <p:nvPr/>
        </p:nvSpPr>
        <p:spPr>
          <a:xfrm>
            <a:off x="8046720" y="1463040"/>
            <a:ext cx="3383280" cy="4572000"/>
          </a:xfrm>
          <a:prstGeom prst="roundRect">
            <a:avLst>
              <a:gd name="adj" fmla="val 3243"/>
            </a:avLst>
          </a:prstGeom>
          <a:solidFill>
            <a:srgbClr val="FFFFFF"/>
          </a:solidFill>
          <a:ln w="19050">
            <a:solidFill>
              <a:srgbClr val="FDE68A"/>
            </a:solidFill>
            <a:prstDash val="solid"/>
          </a:ln>
        </p:spPr>
      </p:sp>
      <p:sp>
        <p:nvSpPr>
          <p:cNvPr id="26" name="Shape 24"/>
          <p:cNvSpPr/>
          <p:nvPr/>
        </p:nvSpPr>
        <p:spPr>
          <a:xfrm>
            <a:off x="8229600" y="1645920"/>
            <a:ext cx="3017520" cy="320040"/>
          </a:xfrm>
          <a:prstGeom prst="roundRect">
            <a:avLst>
              <a:gd name="adj" fmla="val 22857"/>
            </a:avLst>
          </a:prstGeom>
          <a:solidFill>
            <a:srgbClr val="FFFBEB"/>
          </a:solidFill>
          <a:ln w="12700">
            <a:solidFill>
              <a:srgbClr val="FDE68A"/>
            </a:solidFill>
            <a:prstDash val="solid"/>
          </a:ln>
        </p:spPr>
      </p:sp>
      <p:sp>
        <p:nvSpPr>
          <p:cNvPr id="27" name="Text 25"/>
          <p:cNvSpPr/>
          <p:nvPr/>
        </p:nvSpPr>
        <p:spPr>
          <a:xfrm>
            <a:off x="8229600" y="1691640"/>
            <a:ext cx="3017520" cy="228600"/>
          </a:xfrm>
          <a:prstGeom prst="rect">
            <a:avLst/>
          </a:prstGeom>
          <a:noFill/>
          <a:ln/>
        </p:spPr>
        <p:txBody>
          <a:bodyPr wrap="square" rtlCol="0" anchor="ctr"/>
          <a:lstStyle/>
          <a:p>
            <a:pPr algn="ctr" indent="0" marL="0">
              <a:buNone/>
            </a:pPr>
            <a:r>
              <a:rPr lang="en-US" sz="900" b="1" dirty="0">
                <a:solidFill>
                  <a:srgbClr val="D97706"/>
                </a:solidFill>
                <a:latin typeface="Arial" pitchFamily="34" charset="0"/>
                <a:ea typeface="Arial" pitchFamily="34" charset="-122"/>
                <a:cs typeface="Arial" pitchFamily="34" charset="-120"/>
              </a:rPr>
              <a:t>EXECUTIVE OVERSIGHT &amp; ADOPTION</a:t>
            </a:r>
            <a:endParaRPr lang="en-US" sz="900" dirty="0"/>
          </a:p>
        </p:txBody>
      </p:sp>
      <p:sp>
        <p:nvSpPr>
          <p:cNvPr id="28" name="Text 26"/>
          <p:cNvSpPr/>
          <p:nvPr/>
        </p:nvSpPr>
        <p:spPr>
          <a:xfrm>
            <a:off x="8229600" y="2103120"/>
            <a:ext cx="3017520" cy="457200"/>
          </a:xfrm>
          <a:prstGeom prst="rect">
            <a:avLst/>
          </a:prstGeom>
          <a:noFill/>
          <a:ln/>
        </p:spPr>
        <p:txBody>
          <a:bodyPr wrap="square" rtlCol="0" anchor="ctr"/>
          <a:lstStyle/>
          <a:p>
            <a:pPr algn="ctr" indent="0" marL="0">
              <a:buNone/>
            </a:pPr>
            <a:r>
              <a:rPr lang="en-US" sz="1300" b="1" dirty="0">
                <a:solidFill>
                  <a:srgbClr val="0F172A"/>
                </a:solidFill>
                <a:latin typeface="Arial" pitchFamily="34" charset="0"/>
                <a:ea typeface="Arial" pitchFamily="34" charset="-122"/>
                <a:cs typeface="Arial" pitchFamily="34" charset="-120"/>
              </a:rPr>
              <a:t>Dean of Student Affairs &amp; University Leadership</a:t>
            </a:r>
            <a:endParaRPr lang="en-US" sz="1300" dirty="0"/>
          </a:p>
        </p:txBody>
      </p:sp>
      <p:sp>
        <p:nvSpPr>
          <p:cNvPr id="29" name="Text 27"/>
          <p:cNvSpPr/>
          <p:nvPr/>
        </p:nvSpPr>
        <p:spPr>
          <a:xfrm>
            <a:off x="8229600" y="2560320"/>
            <a:ext cx="3017520" cy="274320"/>
          </a:xfrm>
          <a:prstGeom prst="rect">
            <a:avLst/>
          </a:prstGeom>
          <a:noFill/>
          <a:ln/>
        </p:spPr>
        <p:txBody>
          <a:bodyPr wrap="square" rtlCol="0" anchor="ctr"/>
          <a:lstStyle/>
          <a:p>
            <a:pPr algn="ctr" indent="0" marL="0">
              <a:buNone/>
            </a:pPr>
            <a:r>
              <a:rPr lang="en-US" sz="1000" dirty="0">
                <a:solidFill>
                  <a:srgbClr val="64748B"/>
                </a:solidFill>
                <a:latin typeface="Arial" pitchFamily="34" charset="0"/>
                <a:ea typeface="Arial" pitchFamily="34" charset="-122"/>
                <a:cs typeface="Arial" pitchFamily="34" charset="-120"/>
              </a:rPr>
              <a:t>Samara University Administration</a:t>
            </a:r>
            <a:endParaRPr lang="en-US" sz="1000" dirty="0"/>
          </a:p>
        </p:txBody>
      </p:sp>
      <p:sp>
        <p:nvSpPr>
          <p:cNvPr id="30" name="Shape 28"/>
          <p:cNvSpPr/>
          <p:nvPr/>
        </p:nvSpPr>
        <p:spPr>
          <a:xfrm>
            <a:off x="8321040" y="2926080"/>
            <a:ext cx="2834640" cy="0"/>
          </a:xfrm>
          <a:prstGeom prst="line">
            <a:avLst/>
          </a:prstGeom>
          <a:noFill/>
          <a:ln w="12700">
            <a:solidFill>
              <a:srgbClr val="E2E8F0"/>
            </a:solidFill>
            <a:prstDash val="solid"/>
          </a:ln>
        </p:spPr>
      </p:sp>
      <p:sp>
        <p:nvSpPr>
          <p:cNvPr id="31" name="Text 29"/>
          <p:cNvSpPr/>
          <p:nvPr/>
        </p:nvSpPr>
        <p:spPr>
          <a:xfrm>
            <a:off x="8275320" y="3108960"/>
            <a:ext cx="2926080" cy="640080"/>
          </a:xfrm>
          <a:prstGeom prst="rect">
            <a:avLst/>
          </a:prstGeom>
          <a:noFill/>
          <a:ln/>
        </p:spPr>
        <p:txBody>
          <a:bodyPr wrap="square" rtlCol="0" anchor="ctr"/>
          <a:lstStyle/>
          <a:p>
            <a:pPr indent="0" marL="0">
              <a:buNone/>
            </a:pPr>
            <a:r>
              <a:rPr lang="en-US" sz="1000" dirty="0">
                <a:solidFill>
                  <a:srgbClr val="334155"/>
                </a:solidFill>
                <a:latin typeface="Arial" pitchFamily="34" charset="0"/>
                <a:ea typeface="Arial" pitchFamily="34" charset="-122"/>
                <a:cs typeface="Arial" pitchFamily="34" charset="-120"/>
              </a:rPr>
              <a:t>• Super Administrator master clearance over harassment dossiers</a:t>
            </a:r>
            <a:endParaRPr lang="en-US" sz="1000" dirty="0"/>
          </a:p>
        </p:txBody>
      </p:sp>
      <p:sp>
        <p:nvSpPr>
          <p:cNvPr id="32" name="Text 30"/>
          <p:cNvSpPr/>
          <p:nvPr/>
        </p:nvSpPr>
        <p:spPr>
          <a:xfrm>
            <a:off x="8275320" y="3794760"/>
            <a:ext cx="2926080" cy="640080"/>
          </a:xfrm>
          <a:prstGeom prst="rect">
            <a:avLst/>
          </a:prstGeom>
          <a:noFill/>
          <a:ln/>
        </p:spPr>
        <p:txBody>
          <a:bodyPr wrap="square" rtlCol="0" anchor="ctr"/>
          <a:lstStyle/>
          <a:p>
            <a:pPr indent="0" marL="0">
              <a:buNone/>
            </a:pPr>
            <a:r>
              <a:rPr lang="en-US" sz="1000" dirty="0">
                <a:solidFill>
                  <a:srgbClr val="334155"/>
                </a:solidFill>
                <a:latin typeface="Arial" pitchFamily="34" charset="0"/>
                <a:ea typeface="Arial" pitchFamily="34" charset="-122"/>
                <a:cs typeface="Arial" pitchFamily="34" charset="-120"/>
              </a:rPr>
              <a:t>• Final tribunal authority on severe student welfare violations</a:t>
            </a:r>
            <a:endParaRPr lang="en-US" sz="1000" dirty="0"/>
          </a:p>
        </p:txBody>
      </p:sp>
      <p:sp>
        <p:nvSpPr>
          <p:cNvPr id="33" name="Text 31"/>
          <p:cNvSpPr/>
          <p:nvPr/>
        </p:nvSpPr>
        <p:spPr>
          <a:xfrm>
            <a:off x="8275320" y="4480560"/>
            <a:ext cx="2926080" cy="640080"/>
          </a:xfrm>
          <a:prstGeom prst="rect">
            <a:avLst/>
          </a:prstGeom>
          <a:noFill/>
          <a:ln/>
        </p:spPr>
        <p:txBody>
          <a:bodyPr wrap="square" rtlCol="0" anchor="ctr"/>
          <a:lstStyle/>
          <a:p>
            <a:pPr indent="0" marL="0">
              <a:buNone/>
            </a:pPr>
            <a:r>
              <a:rPr lang="en-US" sz="1000" dirty="0">
                <a:solidFill>
                  <a:srgbClr val="334155"/>
                </a:solidFill>
                <a:latin typeface="Arial" pitchFamily="34" charset="0"/>
                <a:ea typeface="Arial" pitchFamily="34" charset="-122"/>
                <a:cs typeface="Arial" pitchFamily="34" charset="-120"/>
              </a:rPr>
              <a:t>• Campus emergency hotline management and response mobilization</a:t>
            </a:r>
            <a:endParaRPr lang="en-US" sz="1000" dirty="0"/>
          </a:p>
        </p:txBody>
      </p:sp>
      <p:sp>
        <p:nvSpPr>
          <p:cNvPr id="34" name="Text 32"/>
          <p:cNvSpPr/>
          <p:nvPr/>
        </p:nvSpPr>
        <p:spPr>
          <a:xfrm>
            <a:off x="8275320" y="5166360"/>
            <a:ext cx="2926080" cy="640080"/>
          </a:xfrm>
          <a:prstGeom prst="rect">
            <a:avLst/>
          </a:prstGeom>
          <a:noFill/>
          <a:ln/>
        </p:spPr>
        <p:txBody>
          <a:bodyPr wrap="square" rtlCol="0" anchor="ctr"/>
          <a:lstStyle/>
          <a:p>
            <a:pPr indent="0" marL="0">
              <a:buNone/>
            </a:pPr>
            <a:r>
              <a:rPr lang="en-US" sz="1000" dirty="0">
                <a:solidFill>
                  <a:srgbClr val="334155"/>
                </a:solidFill>
                <a:latin typeface="Arial" pitchFamily="34" charset="0"/>
                <a:ea typeface="Arial" pitchFamily="34" charset="-122"/>
                <a:cs typeface="Arial" pitchFamily="34" charset="-120"/>
              </a:rPr>
              <a:t>• Guarantor of student peace, justice, and campus security</a:t>
            </a:r>
            <a:endParaRPr lang="en-US" sz="1000" dirty="0"/>
          </a:p>
        </p:txBody>
      </p:sp>
      <p:sp>
        <p:nvSpPr>
          <p:cNvPr id="35" name="Text 33"/>
          <p:cNvSpPr/>
          <p:nvPr/>
        </p:nvSpPr>
        <p:spPr>
          <a:xfrm>
            <a:off x="731520" y="6400800"/>
            <a:ext cx="1069848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Samara Student Voices | Confidential &amp; Charter-Protected | Slide 3 of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10698480" cy="27432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SAMARA UNIVERSITY — STUDENT VOICE &amp; SAFETY NETWORK</a:t>
            </a:r>
            <a:endParaRPr lang="en-US" sz="1000" dirty="0"/>
          </a:p>
        </p:txBody>
      </p:sp>
      <p:sp>
        <p:nvSpPr>
          <p:cNvPr id="3" name="Text 1"/>
          <p:cNvSpPr/>
          <p:nvPr/>
        </p:nvSpPr>
        <p:spPr>
          <a:xfrm>
            <a:off x="731520" y="594360"/>
            <a:ext cx="1069848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Checks &amp; Balances: The 4-Role Governance Model</a:t>
            </a:r>
            <a:endParaRPr lang="en-US" sz="2200" dirty="0"/>
          </a:p>
        </p:txBody>
      </p:sp>
      <p:sp>
        <p:nvSpPr>
          <p:cNvPr id="4" name="Shape 2"/>
          <p:cNvSpPr/>
          <p:nvPr/>
        </p:nvSpPr>
        <p:spPr>
          <a:xfrm>
            <a:off x="731520" y="1188720"/>
            <a:ext cx="10698480" cy="0"/>
          </a:xfrm>
          <a:prstGeom prst="line">
            <a:avLst/>
          </a:prstGeom>
          <a:noFill/>
          <a:ln w="12700">
            <a:solidFill>
              <a:srgbClr val="CBD5E1"/>
            </a:solidFill>
            <a:prstDash val="solid"/>
          </a:ln>
        </p:spPr>
      </p:sp>
      <p:sp>
        <p:nvSpPr>
          <p:cNvPr id="5" name="Shape 3"/>
          <p:cNvSpPr/>
          <p:nvPr/>
        </p:nvSpPr>
        <p:spPr>
          <a:xfrm>
            <a:off x="731520" y="1463040"/>
            <a:ext cx="2560320" cy="4572000"/>
          </a:xfrm>
          <a:prstGeom prst="roundRect">
            <a:avLst>
              <a:gd name="adj" fmla="val 4286"/>
            </a:avLst>
          </a:prstGeom>
          <a:solidFill>
            <a:srgbClr val="FFFFFF"/>
          </a:solidFill>
          <a:ln w="15240">
            <a:solidFill>
              <a:srgbClr val="CBD5E1"/>
            </a:solidFill>
            <a:prstDash val="solid"/>
          </a:ln>
        </p:spPr>
      </p:sp>
      <p:sp>
        <p:nvSpPr>
          <p:cNvPr id="6" name="Shape 4"/>
          <p:cNvSpPr/>
          <p:nvPr/>
        </p:nvSpPr>
        <p:spPr>
          <a:xfrm>
            <a:off x="1783080" y="1645920"/>
            <a:ext cx="457200" cy="457200"/>
          </a:xfrm>
          <a:prstGeom prst="ellipse">
            <a:avLst/>
          </a:prstGeom>
          <a:solidFill>
            <a:srgbClr val="2563EB"/>
          </a:solidFill>
          <a:ln w="12700">
            <a:solidFill>
              <a:srgbClr val="2563EB"/>
            </a:solidFill>
            <a:prstDash val="solid"/>
          </a:ln>
        </p:spPr>
      </p:sp>
      <p:sp>
        <p:nvSpPr>
          <p:cNvPr id="7" name="Text 5"/>
          <p:cNvSpPr/>
          <p:nvPr/>
        </p:nvSpPr>
        <p:spPr>
          <a:xfrm>
            <a:off x="1783080" y="1691640"/>
            <a:ext cx="45720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822960" y="2148840"/>
            <a:ext cx="2377440" cy="320040"/>
          </a:xfrm>
          <a:prstGeom prst="rect">
            <a:avLst/>
          </a:prstGeom>
          <a:noFill/>
          <a:ln/>
        </p:spPr>
        <p:txBody>
          <a:bodyPr wrap="square" rtlCol="0" anchor="ctr"/>
          <a:lstStyle/>
          <a:p>
            <a:pPr algn="ctr" indent="0" marL="0">
              <a:buNone/>
            </a:pPr>
            <a:r>
              <a:rPr lang="en-US" sz="1100" b="1" dirty="0">
                <a:solidFill>
                  <a:srgbClr val="0F172A"/>
                </a:solidFill>
                <a:latin typeface="Arial" pitchFamily="34" charset="0"/>
                <a:ea typeface="Arial" pitchFamily="34" charset="-122"/>
                <a:cs typeface="Arial" pitchFamily="34" charset="-120"/>
              </a:rPr>
              <a:t>STUDENTS</a:t>
            </a:r>
            <a:endParaRPr lang="en-US" sz="1100" dirty="0"/>
          </a:p>
        </p:txBody>
      </p:sp>
      <p:sp>
        <p:nvSpPr>
          <p:cNvPr id="9" name="Text 7"/>
          <p:cNvSpPr/>
          <p:nvPr/>
        </p:nvSpPr>
        <p:spPr>
          <a:xfrm>
            <a:off x="822960" y="2423160"/>
            <a:ext cx="2377440" cy="228600"/>
          </a:xfrm>
          <a:prstGeom prst="rect">
            <a:avLst/>
          </a:prstGeom>
          <a:noFill/>
          <a:ln/>
        </p:spPr>
        <p:txBody>
          <a:bodyPr wrap="square" rtlCol="0" anchor="ctr"/>
          <a:lstStyle/>
          <a:p>
            <a:pPr algn="ctr" indent="0" marL="0">
              <a:buNone/>
            </a:pPr>
            <a:r>
              <a:rPr lang="en-US" sz="900" b="1" dirty="0">
                <a:solidFill>
                  <a:srgbClr val="2563EB"/>
                </a:solidFill>
                <a:latin typeface="Arial" pitchFamily="34" charset="0"/>
                <a:ea typeface="Arial" pitchFamily="34" charset="-122"/>
                <a:cs typeface="Arial" pitchFamily="34" charset="-120"/>
              </a:rPr>
              <a:t>SAFE VOICES</a:t>
            </a:r>
            <a:endParaRPr lang="en-US" sz="900" dirty="0"/>
          </a:p>
        </p:txBody>
      </p:sp>
      <p:sp>
        <p:nvSpPr>
          <p:cNvPr id="10" name="Shape 8"/>
          <p:cNvSpPr/>
          <p:nvPr/>
        </p:nvSpPr>
        <p:spPr>
          <a:xfrm>
            <a:off x="914400" y="2743200"/>
            <a:ext cx="2194560" cy="0"/>
          </a:xfrm>
          <a:prstGeom prst="line">
            <a:avLst/>
          </a:prstGeom>
          <a:noFill/>
          <a:ln w="12700">
            <a:solidFill>
              <a:srgbClr val="E2E8F0"/>
            </a:solidFill>
            <a:prstDash val="solid"/>
          </a:ln>
        </p:spPr>
      </p:sp>
      <p:sp>
        <p:nvSpPr>
          <p:cNvPr id="11" name="Text 9"/>
          <p:cNvSpPr/>
          <p:nvPr/>
        </p:nvSpPr>
        <p:spPr>
          <a:xfrm>
            <a:off x="868680" y="2834640"/>
            <a:ext cx="2286000" cy="228600"/>
          </a:xfrm>
          <a:prstGeom prst="rect">
            <a:avLst/>
          </a:prstGeom>
          <a:noFill/>
          <a:ln/>
        </p:spPr>
        <p:txBody>
          <a:bodyPr wrap="square" rtlCol="0" anchor="ctr"/>
          <a:lstStyle/>
          <a:p>
            <a:pPr indent="0" marL="0">
              <a:buNone/>
            </a:pPr>
            <a:r>
              <a:rPr lang="en-US" sz="850" b="1" dirty="0">
                <a:solidFill>
                  <a:srgbClr val="059669"/>
                </a:solidFill>
                <a:latin typeface="Arial" pitchFamily="34" charset="0"/>
                <a:ea typeface="Arial" pitchFamily="34" charset="-122"/>
                <a:cs typeface="Arial" pitchFamily="34" charset="-120"/>
              </a:rPr>
              <a:t>PERMITTED:</a:t>
            </a:r>
            <a:endParaRPr lang="en-US" sz="850" dirty="0"/>
          </a:p>
        </p:txBody>
      </p:sp>
      <p:sp>
        <p:nvSpPr>
          <p:cNvPr id="12" name="Text 10"/>
          <p:cNvSpPr/>
          <p:nvPr/>
        </p:nvSpPr>
        <p:spPr>
          <a:xfrm>
            <a:off x="868680" y="3063240"/>
            <a:ext cx="2286000" cy="411480"/>
          </a:xfrm>
          <a:prstGeom prst="rect">
            <a:avLst/>
          </a:prstGeom>
          <a:noFill/>
          <a:ln/>
        </p:spPr>
        <p:txBody>
          <a:bodyPr wrap="square" rtlCol="0" anchor="ctr"/>
          <a:lstStyle/>
          <a:p>
            <a:pPr indent="0" marL="0">
              <a:buNone/>
            </a:pPr>
            <a:r>
              <a:rPr lang="en-US" sz="850" dirty="0">
                <a:solidFill>
                  <a:srgbClr val="334155"/>
                </a:solidFill>
                <a:latin typeface="Arial" pitchFamily="34" charset="0"/>
                <a:ea typeface="Arial" pitchFamily="34" charset="-122"/>
                <a:cs typeface="Arial" pitchFamily="34" charset="-120"/>
              </a:rPr>
              <a:t>✔ Submit harassment or feedback reports</a:t>
            </a:r>
            <a:endParaRPr lang="en-US" sz="850" dirty="0"/>
          </a:p>
        </p:txBody>
      </p:sp>
      <p:sp>
        <p:nvSpPr>
          <p:cNvPr id="13" name="Text 11"/>
          <p:cNvSpPr/>
          <p:nvPr/>
        </p:nvSpPr>
        <p:spPr>
          <a:xfrm>
            <a:off x="868680" y="3502152"/>
            <a:ext cx="2286000" cy="411480"/>
          </a:xfrm>
          <a:prstGeom prst="rect">
            <a:avLst/>
          </a:prstGeom>
          <a:noFill/>
          <a:ln/>
        </p:spPr>
        <p:txBody>
          <a:bodyPr wrap="square" rtlCol="0" anchor="ctr"/>
          <a:lstStyle/>
          <a:p>
            <a:pPr indent="0" marL="0">
              <a:buNone/>
            </a:pPr>
            <a:r>
              <a:rPr lang="en-US" sz="850" dirty="0">
                <a:solidFill>
                  <a:srgbClr val="334155"/>
                </a:solidFill>
                <a:latin typeface="Arial" pitchFamily="34" charset="0"/>
                <a:ea typeface="Arial" pitchFamily="34" charset="-122"/>
                <a:cs typeface="Arial" pitchFamily="34" charset="-120"/>
              </a:rPr>
              <a:t>✔ Toggle true anonymous mode</a:t>
            </a:r>
            <a:endParaRPr lang="en-US" sz="850" dirty="0"/>
          </a:p>
        </p:txBody>
      </p:sp>
      <p:sp>
        <p:nvSpPr>
          <p:cNvPr id="14" name="Text 12"/>
          <p:cNvSpPr/>
          <p:nvPr/>
        </p:nvSpPr>
        <p:spPr>
          <a:xfrm>
            <a:off x="868680" y="3941064"/>
            <a:ext cx="2286000" cy="411480"/>
          </a:xfrm>
          <a:prstGeom prst="rect">
            <a:avLst/>
          </a:prstGeom>
          <a:noFill/>
          <a:ln/>
        </p:spPr>
        <p:txBody>
          <a:bodyPr wrap="square" rtlCol="0" anchor="ctr"/>
          <a:lstStyle/>
          <a:p>
            <a:pPr indent="0" marL="0">
              <a:buNone/>
            </a:pPr>
            <a:r>
              <a:rPr lang="en-US" sz="850" dirty="0">
                <a:solidFill>
                  <a:srgbClr val="334155"/>
                </a:solidFill>
                <a:latin typeface="Arial" pitchFamily="34" charset="0"/>
                <a:ea typeface="Arial" pitchFamily="34" charset="-122"/>
                <a:cs typeface="Arial" pitchFamily="34" charset="-120"/>
              </a:rPr>
              <a:t>✔ Track live timeline (Pending → Resolved)</a:t>
            </a:r>
            <a:endParaRPr lang="en-US" sz="850" dirty="0"/>
          </a:p>
        </p:txBody>
      </p:sp>
      <p:sp>
        <p:nvSpPr>
          <p:cNvPr id="15" name="Text 13"/>
          <p:cNvSpPr/>
          <p:nvPr/>
        </p:nvSpPr>
        <p:spPr>
          <a:xfrm>
            <a:off x="868680" y="4379976"/>
            <a:ext cx="2286000" cy="411480"/>
          </a:xfrm>
          <a:prstGeom prst="rect">
            <a:avLst/>
          </a:prstGeom>
          <a:noFill/>
          <a:ln/>
        </p:spPr>
        <p:txBody>
          <a:bodyPr wrap="square" rtlCol="0" anchor="ctr"/>
          <a:lstStyle/>
          <a:p>
            <a:pPr indent="0" marL="0">
              <a:buNone/>
            </a:pPr>
            <a:r>
              <a:rPr lang="en-US" sz="850" dirty="0">
                <a:solidFill>
                  <a:srgbClr val="334155"/>
                </a:solidFill>
                <a:latin typeface="Arial" pitchFamily="34" charset="0"/>
                <a:ea typeface="Arial" pitchFamily="34" charset="-122"/>
                <a:cs typeface="Arial" pitchFamily="34" charset="-120"/>
              </a:rPr>
              <a:t>✔ Private threaded chats with reviewers</a:t>
            </a:r>
            <a:endParaRPr lang="en-US" sz="850" dirty="0"/>
          </a:p>
        </p:txBody>
      </p:sp>
      <p:sp>
        <p:nvSpPr>
          <p:cNvPr id="16" name="Text 14"/>
          <p:cNvSpPr/>
          <p:nvPr/>
        </p:nvSpPr>
        <p:spPr>
          <a:xfrm>
            <a:off x="868680" y="4892040"/>
            <a:ext cx="2286000" cy="228600"/>
          </a:xfrm>
          <a:prstGeom prst="rect">
            <a:avLst/>
          </a:prstGeom>
          <a:noFill/>
          <a:ln/>
        </p:spPr>
        <p:txBody>
          <a:bodyPr wrap="square" rtlCol="0" anchor="ctr"/>
          <a:lstStyle/>
          <a:p>
            <a:pPr indent="0" marL="0">
              <a:buNone/>
            </a:pPr>
            <a:r>
              <a:rPr lang="en-US" sz="850" b="1" dirty="0">
                <a:solidFill>
                  <a:srgbClr val="E11D48"/>
                </a:solidFill>
                <a:latin typeface="Arial" pitchFamily="34" charset="0"/>
                <a:ea typeface="Arial" pitchFamily="34" charset="-122"/>
                <a:cs typeface="Arial" pitchFamily="34" charset="-120"/>
              </a:rPr>
              <a:t>RESTRICTED:</a:t>
            </a:r>
            <a:endParaRPr lang="en-US" sz="850" dirty="0"/>
          </a:p>
        </p:txBody>
      </p:sp>
      <p:sp>
        <p:nvSpPr>
          <p:cNvPr id="17" name="Text 15"/>
          <p:cNvSpPr/>
          <p:nvPr/>
        </p:nvSpPr>
        <p:spPr>
          <a:xfrm>
            <a:off x="868680" y="5120640"/>
            <a:ext cx="2286000" cy="411480"/>
          </a:xfrm>
          <a:prstGeom prst="rect">
            <a:avLst/>
          </a:prstGeom>
          <a:noFill/>
          <a:ln/>
        </p:spPr>
        <p:txBody>
          <a:bodyPr wrap="square" rtlCol="0" anchor="ctr"/>
          <a:lstStyle/>
          <a:p>
            <a:pPr indent="0" marL="0">
              <a:buNone/>
            </a:pPr>
            <a:r>
              <a:rPr lang="en-US" sz="850" dirty="0">
                <a:solidFill>
                  <a:srgbClr val="991B1B"/>
                </a:solidFill>
                <a:latin typeface="Arial" pitchFamily="34" charset="0"/>
                <a:ea typeface="Arial" pitchFamily="34" charset="-122"/>
                <a:cs typeface="Arial" pitchFamily="34" charset="-120"/>
              </a:rPr>
              <a:t>✖ Cannot view other students’ complaints</a:t>
            </a:r>
            <a:endParaRPr lang="en-US" sz="850" dirty="0"/>
          </a:p>
        </p:txBody>
      </p:sp>
      <p:sp>
        <p:nvSpPr>
          <p:cNvPr id="18" name="Text 16"/>
          <p:cNvSpPr/>
          <p:nvPr/>
        </p:nvSpPr>
        <p:spPr>
          <a:xfrm>
            <a:off x="868680" y="5532120"/>
            <a:ext cx="2286000" cy="411480"/>
          </a:xfrm>
          <a:prstGeom prst="rect">
            <a:avLst/>
          </a:prstGeom>
          <a:noFill/>
          <a:ln/>
        </p:spPr>
        <p:txBody>
          <a:bodyPr wrap="square" rtlCol="0" anchor="ctr"/>
          <a:lstStyle/>
          <a:p>
            <a:pPr indent="0" marL="0">
              <a:buNone/>
            </a:pPr>
            <a:r>
              <a:rPr lang="en-US" sz="850" dirty="0">
                <a:solidFill>
                  <a:srgbClr val="991B1B"/>
                </a:solidFill>
                <a:latin typeface="Arial" pitchFamily="34" charset="0"/>
                <a:ea typeface="Arial" pitchFamily="34" charset="-122"/>
                <a:cs typeface="Arial" pitchFamily="34" charset="-120"/>
              </a:rPr>
              <a:t>✖ Cannot access admin or executive desks</a:t>
            </a:r>
            <a:endParaRPr lang="en-US" sz="850" dirty="0"/>
          </a:p>
        </p:txBody>
      </p:sp>
      <p:sp>
        <p:nvSpPr>
          <p:cNvPr id="19" name="Shape 17"/>
          <p:cNvSpPr/>
          <p:nvPr/>
        </p:nvSpPr>
        <p:spPr>
          <a:xfrm>
            <a:off x="3474720" y="1463040"/>
            <a:ext cx="2560320" cy="4572000"/>
          </a:xfrm>
          <a:prstGeom prst="roundRect">
            <a:avLst>
              <a:gd name="adj" fmla="val 4286"/>
            </a:avLst>
          </a:prstGeom>
          <a:solidFill>
            <a:srgbClr val="FFFFFF"/>
          </a:solidFill>
          <a:ln w="15240">
            <a:solidFill>
              <a:srgbClr val="CBD5E1"/>
            </a:solidFill>
            <a:prstDash val="solid"/>
          </a:ln>
        </p:spPr>
      </p:sp>
      <p:sp>
        <p:nvSpPr>
          <p:cNvPr id="20" name="Shape 18"/>
          <p:cNvSpPr/>
          <p:nvPr/>
        </p:nvSpPr>
        <p:spPr>
          <a:xfrm>
            <a:off x="4526280" y="1645920"/>
            <a:ext cx="457200" cy="457200"/>
          </a:xfrm>
          <a:prstGeom prst="ellipse">
            <a:avLst/>
          </a:prstGeom>
          <a:solidFill>
            <a:srgbClr val="0284C7"/>
          </a:solidFill>
          <a:ln w="12700">
            <a:solidFill>
              <a:srgbClr val="0284C7"/>
            </a:solidFill>
            <a:prstDash val="solid"/>
          </a:ln>
        </p:spPr>
      </p:sp>
      <p:sp>
        <p:nvSpPr>
          <p:cNvPr id="21" name="Text 19"/>
          <p:cNvSpPr/>
          <p:nvPr/>
        </p:nvSpPr>
        <p:spPr>
          <a:xfrm>
            <a:off x="4526280" y="1691640"/>
            <a:ext cx="45720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22" name="Text 20"/>
          <p:cNvSpPr/>
          <p:nvPr/>
        </p:nvSpPr>
        <p:spPr>
          <a:xfrm>
            <a:off x="3566160" y="2148840"/>
            <a:ext cx="2377440" cy="320040"/>
          </a:xfrm>
          <a:prstGeom prst="rect">
            <a:avLst/>
          </a:prstGeom>
          <a:noFill/>
          <a:ln/>
        </p:spPr>
        <p:txBody>
          <a:bodyPr wrap="square" rtlCol="0" anchor="ctr"/>
          <a:lstStyle/>
          <a:p>
            <a:pPr algn="ctr" indent="0" marL="0">
              <a:buNone/>
            </a:pPr>
            <a:r>
              <a:rPr lang="en-US" sz="1100" b="1" dirty="0">
                <a:solidFill>
                  <a:srgbClr val="0F172A"/>
                </a:solidFill>
                <a:latin typeface="Arial" pitchFamily="34" charset="0"/>
                <a:ea typeface="Arial" pitchFamily="34" charset="-122"/>
                <a:cs typeface="Arial" pitchFamily="34" charset="-120"/>
              </a:rPr>
              <a:t>STUDENT EXECUTIVES</a:t>
            </a:r>
            <a:endParaRPr lang="en-US" sz="1100" dirty="0"/>
          </a:p>
        </p:txBody>
      </p:sp>
      <p:sp>
        <p:nvSpPr>
          <p:cNvPr id="23" name="Text 21"/>
          <p:cNvSpPr/>
          <p:nvPr/>
        </p:nvSpPr>
        <p:spPr>
          <a:xfrm>
            <a:off x="3566160" y="2423160"/>
            <a:ext cx="2377440" cy="228600"/>
          </a:xfrm>
          <a:prstGeom prst="rect">
            <a:avLst/>
          </a:prstGeom>
          <a:noFill/>
          <a:ln/>
        </p:spPr>
        <p:txBody>
          <a:bodyPr wrap="square" rtlCol="0" anchor="ctr"/>
          <a:lstStyle/>
          <a:p>
            <a:pPr algn="ctr" indent="0" marL="0">
              <a:buNone/>
            </a:pPr>
            <a:r>
              <a:rPr lang="en-US" sz="900" b="1" dirty="0">
                <a:solidFill>
                  <a:srgbClr val="0284C7"/>
                </a:solidFill>
                <a:latin typeface="Arial" pitchFamily="34" charset="0"/>
                <a:ea typeface="Arial" pitchFamily="34" charset="-122"/>
                <a:cs typeface="Arial" pitchFamily="34" charset="-120"/>
              </a:rPr>
              <a:t>FIRST RESPONSE</a:t>
            </a:r>
            <a:endParaRPr lang="en-US" sz="900" dirty="0"/>
          </a:p>
        </p:txBody>
      </p:sp>
      <p:sp>
        <p:nvSpPr>
          <p:cNvPr id="24" name="Shape 22"/>
          <p:cNvSpPr/>
          <p:nvPr/>
        </p:nvSpPr>
        <p:spPr>
          <a:xfrm>
            <a:off x="3657600" y="2743200"/>
            <a:ext cx="2194560" cy="0"/>
          </a:xfrm>
          <a:prstGeom prst="line">
            <a:avLst/>
          </a:prstGeom>
          <a:noFill/>
          <a:ln w="12700">
            <a:solidFill>
              <a:srgbClr val="E2E8F0"/>
            </a:solidFill>
            <a:prstDash val="solid"/>
          </a:ln>
        </p:spPr>
      </p:sp>
      <p:sp>
        <p:nvSpPr>
          <p:cNvPr id="25" name="Text 23"/>
          <p:cNvSpPr/>
          <p:nvPr/>
        </p:nvSpPr>
        <p:spPr>
          <a:xfrm>
            <a:off x="3611880" y="2834640"/>
            <a:ext cx="2286000" cy="228600"/>
          </a:xfrm>
          <a:prstGeom prst="rect">
            <a:avLst/>
          </a:prstGeom>
          <a:noFill/>
          <a:ln/>
        </p:spPr>
        <p:txBody>
          <a:bodyPr wrap="square" rtlCol="0" anchor="ctr"/>
          <a:lstStyle/>
          <a:p>
            <a:pPr indent="0" marL="0">
              <a:buNone/>
            </a:pPr>
            <a:r>
              <a:rPr lang="en-US" sz="850" b="1" dirty="0">
                <a:solidFill>
                  <a:srgbClr val="059669"/>
                </a:solidFill>
                <a:latin typeface="Arial" pitchFamily="34" charset="0"/>
                <a:ea typeface="Arial" pitchFamily="34" charset="-122"/>
                <a:cs typeface="Arial" pitchFamily="34" charset="-120"/>
              </a:rPr>
              <a:t>PERMITTED:</a:t>
            </a:r>
            <a:endParaRPr lang="en-US" sz="850" dirty="0"/>
          </a:p>
        </p:txBody>
      </p:sp>
      <p:sp>
        <p:nvSpPr>
          <p:cNvPr id="26" name="Text 24"/>
          <p:cNvSpPr/>
          <p:nvPr/>
        </p:nvSpPr>
        <p:spPr>
          <a:xfrm>
            <a:off x="3611880" y="3063240"/>
            <a:ext cx="2286000" cy="411480"/>
          </a:xfrm>
          <a:prstGeom prst="rect">
            <a:avLst/>
          </a:prstGeom>
          <a:noFill/>
          <a:ln/>
        </p:spPr>
        <p:txBody>
          <a:bodyPr wrap="square" rtlCol="0" anchor="ctr"/>
          <a:lstStyle/>
          <a:p>
            <a:pPr indent="0" marL="0">
              <a:buNone/>
            </a:pPr>
            <a:r>
              <a:rPr lang="en-US" sz="850" dirty="0">
                <a:solidFill>
                  <a:srgbClr val="334155"/>
                </a:solidFill>
                <a:latin typeface="Arial" pitchFamily="34" charset="0"/>
                <a:ea typeface="Arial" pitchFamily="34" charset="-122"/>
                <a:cs typeface="Arial" pitchFamily="34" charset="-120"/>
              </a:rPr>
              <a:t>✔ Review academic &amp; campus life feedback</a:t>
            </a:r>
            <a:endParaRPr lang="en-US" sz="850" dirty="0"/>
          </a:p>
        </p:txBody>
      </p:sp>
      <p:sp>
        <p:nvSpPr>
          <p:cNvPr id="27" name="Text 25"/>
          <p:cNvSpPr/>
          <p:nvPr/>
        </p:nvSpPr>
        <p:spPr>
          <a:xfrm>
            <a:off x="3611880" y="3502152"/>
            <a:ext cx="2286000" cy="411480"/>
          </a:xfrm>
          <a:prstGeom prst="rect">
            <a:avLst/>
          </a:prstGeom>
          <a:noFill/>
          <a:ln/>
        </p:spPr>
        <p:txBody>
          <a:bodyPr wrap="square" rtlCol="0" anchor="ctr"/>
          <a:lstStyle/>
          <a:p>
            <a:pPr indent="0" marL="0">
              <a:buNone/>
            </a:pPr>
            <a:r>
              <a:rPr lang="en-US" sz="850" dirty="0">
                <a:solidFill>
                  <a:srgbClr val="334155"/>
                </a:solidFill>
                <a:latin typeface="Arial" pitchFamily="34" charset="0"/>
                <a:ea typeface="Arial" pitchFamily="34" charset="-122"/>
                <a:cs typeface="Arial" pitchFamily="34" charset="-120"/>
              </a:rPr>
              <a:t>✔ Update status (Pending, In Review, Resolved)</a:t>
            </a:r>
            <a:endParaRPr lang="en-US" sz="850" dirty="0"/>
          </a:p>
        </p:txBody>
      </p:sp>
      <p:sp>
        <p:nvSpPr>
          <p:cNvPr id="28" name="Text 26"/>
          <p:cNvSpPr/>
          <p:nvPr/>
        </p:nvSpPr>
        <p:spPr>
          <a:xfrm>
            <a:off x="3611880" y="3941064"/>
            <a:ext cx="2286000" cy="411480"/>
          </a:xfrm>
          <a:prstGeom prst="rect">
            <a:avLst/>
          </a:prstGeom>
          <a:noFill/>
          <a:ln/>
        </p:spPr>
        <p:txBody>
          <a:bodyPr wrap="square" rtlCol="0" anchor="ctr"/>
          <a:lstStyle/>
          <a:p>
            <a:pPr indent="0" marL="0">
              <a:buNone/>
            </a:pPr>
            <a:r>
              <a:rPr lang="en-US" sz="850" dirty="0">
                <a:solidFill>
                  <a:srgbClr val="334155"/>
                </a:solidFill>
                <a:latin typeface="Arial" pitchFamily="34" charset="0"/>
                <a:ea typeface="Arial" pitchFamily="34" charset="-122"/>
                <a:cs typeface="Arial" pitchFamily="34" charset="-120"/>
              </a:rPr>
              <a:t>✔ Reply directly to student threads</a:t>
            </a:r>
            <a:endParaRPr lang="en-US" sz="850" dirty="0"/>
          </a:p>
        </p:txBody>
      </p:sp>
      <p:sp>
        <p:nvSpPr>
          <p:cNvPr id="29" name="Text 27"/>
          <p:cNvSpPr/>
          <p:nvPr/>
        </p:nvSpPr>
        <p:spPr>
          <a:xfrm>
            <a:off x="3611880" y="4379976"/>
            <a:ext cx="2286000" cy="411480"/>
          </a:xfrm>
          <a:prstGeom prst="rect">
            <a:avLst/>
          </a:prstGeom>
          <a:noFill/>
          <a:ln/>
        </p:spPr>
        <p:txBody>
          <a:bodyPr wrap="square" rtlCol="0" anchor="ctr"/>
          <a:lstStyle/>
          <a:p>
            <a:pPr indent="0" marL="0">
              <a:buNone/>
            </a:pPr>
            <a:r>
              <a:rPr lang="en-US" sz="850" dirty="0">
                <a:solidFill>
                  <a:srgbClr val="334155"/>
                </a:solidFill>
                <a:latin typeface="Arial" pitchFamily="34" charset="0"/>
                <a:ea typeface="Arial" pitchFamily="34" charset="-122"/>
                <a:cs typeface="Arial" pitchFamily="34" charset="-120"/>
              </a:rPr>
              <a:t>✔ Write collaborative internal council notes</a:t>
            </a:r>
            <a:endParaRPr lang="en-US" sz="850" dirty="0"/>
          </a:p>
        </p:txBody>
      </p:sp>
      <p:sp>
        <p:nvSpPr>
          <p:cNvPr id="30" name="Text 28"/>
          <p:cNvSpPr/>
          <p:nvPr/>
        </p:nvSpPr>
        <p:spPr>
          <a:xfrm>
            <a:off x="3611880" y="4892040"/>
            <a:ext cx="2286000" cy="228600"/>
          </a:xfrm>
          <a:prstGeom prst="rect">
            <a:avLst/>
          </a:prstGeom>
          <a:noFill/>
          <a:ln/>
        </p:spPr>
        <p:txBody>
          <a:bodyPr wrap="square" rtlCol="0" anchor="ctr"/>
          <a:lstStyle/>
          <a:p>
            <a:pPr indent="0" marL="0">
              <a:buNone/>
            </a:pPr>
            <a:r>
              <a:rPr lang="en-US" sz="850" b="1" dirty="0">
                <a:solidFill>
                  <a:srgbClr val="E11D48"/>
                </a:solidFill>
                <a:latin typeface="Arial" pitchFamily="34" charset="0"/>
                <a:ea typeface="Arial" pitchFamily="34" charset="-122"/>
                <a:cs typeface="Arial" pitchFamily="34" charset="-120"/>
              </a:rPr>
              <a:t>RESTRICTED:</a:t>
            </a:r>
            <a:endParaRPr lang="en-US" sz="850" dirty="0"/>
          </a:p>
        </p:txBody>
      </p:sp>
      <p:sp>
        <p:nvSpPr>
          <p:cNvPr id="31" name="Text 29"/>
          <p:cNvSpPr/>
          <p:nvPr/>
        </p:nvSpPr>
        <p:spPr>
          <a:xfrm>
            <a:off x="3611880" y="5120640"/>
            <a:ext cx="2286000" cy="411480"/>
          </a:xfrm>
          <a:prstGeom prst="rect">
            <a:avLst/>
          </a:prstGeom>
          <a:noFill/>
          <a:ln/>
        </p:spPr>
        <p:txBody>
          <a:bodyPr wrap="square" rtlCol="0" anchor="ctr"/>
          <a:lstStyle/>
          <a:p>
            <a:pPr indent="0" marL="0">
              <a:buNone/>
            </a:pPr>
            <a:r>
              <a:rPr lang="en-US" sz="850" dirty="0">
                <a:solidFill>
                  <a:srgbClr val="991B1B"/>
                </a:solidFill>
                <a:latin typeface="Arial" pitchFamily="34" charset="0"/>
                <a:ea typeface="Arial" pitchFamily="34" charset="-122"/>
                <a:cs typeface="Arial" pitchFamily="34" charset="-120"/>
              </a:rPr>
              <a:t>✖ STRICTLY BLOCKED from harassment reports</a:t>
            </a:r>
            <a:endParaRPr lang="en-US" sz="850" dirty="0"/>
          </a:p>
        </p:txBody>
      </p:sp>
      <p:sp>
        <p:nvSpPr>
          <p:cNvPr id="32" name="Text 30"/>
          <p:cNvSpPr/>
          <p:nvPr/>
        </p:nvSpPr>
        <p:spPr>
          <a:xfrm>
            <a:off x="3611880" y="5532120"/>
            <a:ext cx="2286000" cy="411480"/>
          </a:xfrm>
          <a:prstGeom prst="rect">
            <a:avLst/>
          </a:prstGeom>
          <a:noFill/>
          <a:ln/>
        </p:spPr>
        <p:txBody>
          <a:bodyPr wrap="square" rtlCol="0" anchor="ctr"/>
          <a:lstStyle/>
          <a:p>
            <a:pPr indent="0" marL="0">
              <a:buNone/>
            </a:pPr>
            <a:r>
              <a:rPr lang="en-US" sz="850" dirty="0">
                <a:solidFill>
                  <a:srgbClr val="991B1B"/>
                </a:solidFill>
                <a:latin typeface="Arial" pitchFamily="34" charset="0"/>
                <a:ea typeface="Arial" pitchFamily="34" charset="-122"/>
                <a:cs typeface="Arial" pitchFamily="34" charset="-120"/>
              </a:rPr>
              <a:t>✖ Cannot see identity of anonymous students</a:t>
            </a:r>
            <a:endParaRPr lang="en-US" sz="850" dirty="0"/>
          </a:p>
        </p:txBody>
      </p:sp>
      <p:sp>
        <p:nvSpPr>
          <p:cNvPr id="33" name="Shape 31"/>
          <p:cNvSpPr/>
          <p:nvPr/>
        </p:nvSpPr>
        <p:spPr>
          <a:xfrm>
            <a:off x="6217920" y="1463040"/>
            <a:ext cx="2560320" cy="4572000"/>
          </a:xfrm>
          <a:prstGeom prst="roundRect">
            <a:avLst>
              <a:gd name="adj" fmla="val 4286"/>
            </a:avLst>
          </a:prstGeom>
          <a:solidFill>
            <a:srgbClr val="FFFFFF"/>
          </a:solidFill>
          <a:ln w="15240">
            <a:solidFill>
              <a:srgbClr val="CBD5E1"/>
            </a:solidFill>
            <a:prstDash val="solid"/>
          </a:ln>
        </p:spPr>
      </p:sp>
      <p:sp>
        <p:nvSpPr>
          <p:cNvPr id="34" name="Shape 32"/>
          <p:cNvSpPr/>
          <p:nvPr/>
        </p:nvSpPr>
        <p:spPr>
          <a:xfrm>
            <a:off x="7269480" y="1645920"/>
            <a:ext cx="457200" cy="457200"/>
          </a:xfrm>
          <a:prstGeom prst="ellipse">
            <a:avLst/>
          </a:prstGeom>
          <a:solidFill>
            <a:srgbClr val="475569"/>
          </a:solidFill>
          <a:ln w="12700">
            <a:solidFill>
              <a:srgbClr val="475569"/>
            </a:solidFill>
            <a:prstDash val="solid"/>
          </a:ln>
        </p:spPr>
      </p:sp>
      <p:sp>
        <p:nvSpPr>
          <p:cNvPr id="35" name="Text 33"/>
          <p:cNvSpPr/>
          <p:nvPr/>
        </p:nvSpPr>
        <p:spPr>
          <a:xfrm>
            <a:off x="7269480" y="1691640"/>
            <a:ext cx="45720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36" name="Text 34"/>
          <p:cNvSpPr/>
          <p:nvPr/>
        </p:nvSpPr>
        <p:spPr>
          <a:xfrm>
            <a:off x="6309360" y="2148840"/>
            <a:ext cx="2377440" cy="320040"/>
          </a:xfrm>
          <a:prstGeom prst="rect">
            <a:avLst/>
          </a:prstGeom>
          <a:noFill/>
          <a:ln/>
        </p:spPr>
        <p:txBody>
          <a:bodyPr wrap="square" rtlCol="0" anchor="ctr"/>
          <a:lstStyle/>
          <a:p>
            <a:pPr algn="ctr" indent="0" marL="0">
              <a:buNone/>
            </a:pPr>
            <a:r>
              <a:rPr lang="en-US" sz="1100" b="1" dirty="0">
                <a:solidFill>
                  <a:srgbClr val="0F172A"/>
                </a:solidFill>
                <a:latin typeface="Arial" pitchFamily="34" charset="0"/>
                <a:ea typeface="Arial" pitchFamily="34" charset="-122"/>
                <a:cs typeface="Arial" pitchFamily="34" charset="-120"/>
              </a:rPr>
              <a:t>ADMINISTRATORS</a:t>
            </a:r>
            <a:endParaRPr lang="en-US" sz="1100" dirty="0"/>
          </a:p>
        </p:txBody>
      </p:sp>
      <p:sp>
        <p:nvSpPr>
          <p:cNvPr id="37" name="Text 35"/>
          <p:cNvSpPr/>
          <p:nvPr/>
        </p:nvSpPr>
        <p:spPr>
          <a:xfrm>
            <a:off x="6309360" y="2423160"/>
            <a:ext cx="2377440" cy="228600"/>
          </a:xfrm>
          <a:prstGeom prst="rect">
            <a:avLst/>
          </a:prstGeom>
          <a:noFill/>
          <a:ln/>
        </p:spPr>
        <p:txBody>
          <a:bodyPr wrap="square" rtlCol="0" anchor="ctr"/>
          <a:lstStyle/>
          <a:p>
            <a:pPr algn="ctr" indent="0" marL="0">
              <a:buNone/>
            </a:pPr>
            <a:r>
              <a:rPr lang="en-US" sz="900" b="1" dirty="0">
                <a:solidFill>
                  <a:srgbClr val="475569"/>
                </a:solidFill>
                <a:latin typeface="Arial" pitchFamily="34" charset="0"/>
                <a:ea typeface="Arial" pitchFamily="34" charset="-122"/>
                <a:cs typeface="Arial" pitchFamily="34" charset="-120"/>
              </a:rPr>
              <a:t>ACCOUNT VERIFY</a:t>
            </a:r>
            <a:endParaRPr lang="en-US" sz="900" dirty="0"/>
          </a:p>
        </p:txBody>
      </p:sp>
      <p:sp>
        <p:nvSpPr>
          <p:cNvPr id="38" name="Shape 36"/>
          <p:cNvSpPr/>
          <p:nvPr/>
        </p:nvSpPr>
        <p:spPr>
          <a:xfrm>
            <a:off x="6400800" y="2743200"/>
            <a:ext cx="2194560" cy="0"/>
          </a:xfrm>
          <a:prstGeom prst="line">
            <a:avLst/>
          </a:prstGeom>
          <a:noFill/>
          <a:ln w="12700">
            <a:solidFill>
              <a:srgbClr val="E2E8F0"/>
            </a:solidFill>
            <a:prstDash val="solid"/>
          </a:ln>
        </p:spPr>
      </p:sp>
      <p:sp>
        <p:nvSpPr>
          <p:cNvPr id="39" name="Text 37"/>
          <p:cNvSpPr/>
          <p:nvPr/>
        </p:nvSpPr>
        <p:spPr>
          <a:xfrm>
            <a:off x="6355080" y="2834640"/>
            <a:ext cx="2286000" cy="228600"/>
          </a:xfrm>
          <a:prstGeom prst="rect">
            <a:avLst/>
          </a:prstGeom>
          <a:noFill/>
          <a:ln/>
        </p:spPr>
        <p:txBody>
          <a:bodyPr wrap="square" rtlCol="0" anchor="ctr"/>
          <a:lstStyle/>
          <a:p>
            <a:pPr indent="0" marL="0">
              <a:buNone/>
            </a:pPr>
            <a:r>
              <a:rPr lang="en-US" sz="850" b="1" dirty="0">
                <a:solidFill>
                  <a:srgbClr val="059669"/>
                </a:solidFill>
                <a:latin typeface="Arial" pitchFamily="34" charset="0"/>
                <a:ea typeface="Arial" pitchFamily="34" charset="-122"/>
                <a:cs typeface="Arial" pitchFamily="34" charset="-120"/>
              </a:rPr>
              <a:t>PERMITTED:</a:t>
            </a:r>
            <a:endParaRPr lang="en-US" sz="850" dirty="0"/>
          </a:p>
        </p:txBody>
      </p:sp>
      <p:sp>
        <p:nvSpPr>
          <p:cNvPr id="40" name="Text 38"/>
          <p:cNvSpPr/>
          <p:nvPr/>
        </p:nvSpPr>
        <p:spPr>
          <a:xfrm>
            <a:off x="6355080" y="3063240"/>
            <a:ext cx="2286000" cy="411480"/>
          </a:xfrm>
          <a:prstGeom prst="rect">
            <a:avLst/>
          </a:prstGeom>
          <a:noFill/>
          <a:ln/>
        </p:spPr>
        <p:txBody>
          <a:bodyPr wrap="square" rtlCol="0" anchor="ctr"/>
          <a:lstStyle/>
          <a:p>
            <a:pPr indent="0" marL="0">
              <a:buNone/>
            </a:pPr>
            <a:r>
              <a:rPr lang="en-US" sz="850" dirty="0">
                <a:solidFill>
                  <a:srgbClr val="334155"/>
                </a:solidFill>
                <a:latin typeface="Arial" pitchFamily="34" charset="0"/>
                <a:ea typeface="Arial" pitchFamily="34" charset="-122"/>
                <a:cs typeface="Arial" pitchFamily="34" charset="-120"/>
              </a:rPr>
              <a:t>✔ Verify registrations against university roster</a:t>
            </a:r>
            <a:endParaRPr lang="en-US" sz="850" dirty="0"/>
          </a:p>
        </p:txBody>
      </p:sp>
      <p:sp>
        <p:nvSpPr>
          <p:cNvPr id="41" name="Text 39"/>
          <p:cNvSpPr/>
          <p:nvPr/>
        </p:nvSpPr>
        <p:spPr>
          <a:xfrm>
            <a:off x="6355080" y="3502152"/>
            <a:ext cx="2286000" cy="411480"/>
          </a:xfrm>
          <a:prstGeom prst="rect">
            <a:avLst/>
          </a:prstGeom>
          <a:noFill/>
          <a:ln/>
        </p:spPr>
        <p:txBody>
          <a:bodyPr wrap="square" rtlCol="0" anchor="ctr"/>
          <a:lstStyle/>
          <a:p>
            <a:pPr indent="0" marL="0">
              <a:buNone/>
            </a:pPr>
            <a:r>
              <a:rPr lang="en-US" sz="850" dirty="0">
                <a:solidFill>
                  <a:srgbClr val="334155"/>
                </a:solidFill>
                <a:latin typeface="Arial" pitchFamily="34" charset="0"/>
                <a:ea typeface="Arial" pitchFamily="34" charset="-122"/>
                <a:cs typeface="Arial" pitchFamily="34" charset="-120"/>
              </a:rPr>
              <a:t>✔ Approve legitimate student/executive accounts</a:t>
            </a:r>
            <a:endParaRPr lang="en-US" sz="850" dirty="0"/>
          </a:p>
        </p:txBody>
      </p:sp>
      <p:sp>
        <p:nvSpPr>
          <p:cNvPr id="42" name="Text 40"/>
          <p:cNvSpPr/>
          <p:nvPr/>
        </p:nvSpPr>
        <p:spPr>
          <a:xfrm>
            <a:off x="6355080" y="3941064"/>
            <a:ext cx="2286000" cy="411480"/>
          </a:xfrm>
          <a:prstGeom prst="rect">
            <a:avLst/>
          </a:prstGeom>
          <a:noFill/>
          <a:ln/>
        </p:spPr>
        <p:txBody>
          <a:bodyPr wrap="square" rtlCol="0" anchor="ctr"/>
          <a:lstStyle/>
          <a:p>
            <a:pPr indent="0" marL="0">
              <a:buNone/>
            </a:pPr>
            <a:r>
              <a:rPr lang="en-US" sz="850" dirty="0">
                <a:solidFill>
                  <a:srgbClr val="334155"/>
                </a:solidFill>
                <a:latin typeface="Arial" pitchFamily="34" charset="0"/>
                <a:ea typeface="Arial" pitchFamily="34" charset="-122"/>
                <a:cs typeface="Arial" pitchFamily="34" charset="-120"/>
              </a:rPr>
              <a:t>✔ Prevent bots, spam, and fake credentials</a:t>
            </a:r>
            <a:endParaRPr lang="en-US" sz="850" dirty="0"/>
          </a:p>
        </p:txBody>
      </p:sp>
      <p:sp>
        <p:nvSpPr>
          <p:cNvPr id="43" name="Text 41"/>
          <p:cNvSpPr/>
          <p:nvPr/>
        </p:nvSpPr>
        <p:spPr>
          <a:xfrm>
            <a:off x="6355080" y="4892040"/>
            <a:ext cx="2286000" cy="228600"/>
          </a:xfrm>
          <a:prstGeom prst="rect">
            <a:avLst/>
          </a:prstGeom>
          <a:noFill/>
          <a:ln/>
        </p:spPr>
        <p:txBody>
          <a:bodyPr wrap="square" rtlCol="0" anchor="ctr"/>
          <a:lstStyle/>
          <a:p>
            <a:pPr indent="0" marL="0">
              <a:buNone/>
            </a:pPr>
            <a:r>
              <a:rPr lang="en-US" sz="850" b="1" dirty="0">
                <a:solidFill>
                  <a:srgbClr val="E11D48"/>
                </a:solidFill>
                <a:latin typeface="Arial" pitchFamily="34" charset="0"/>
                <a:ea typeface="Arial" pitchFamily="34" charset="-122"/>
                <a:cs typeface="Arial" pitchFamily="34" charset="-120"/>
              </a:rPr>
              <a:t>RESTRICTED:</a:t>
            </a:r>
            <a:endParaRPr lang="en-US" sz="850" dirty="0"/>
          </a:p>
        </p:txBody>
      </p:sp>
      <p:sp>
        <p:nvSpPr>
          <p:cNvPr id="44" name="Text 42"/>
          <p:cNvSpPr/>
          <p:nvPr/>
        </p:nvSpPr>
        <p:spPr>
          <a:xfrm>
            <a:off x="6355080" y="5120640"/>
            <a:ext cx="2286000" cy="411480"/>
          </a:xfrm>
          <a:prstGeom prst="rect">
            <a:avLst/>
          </a:prstGeom>
          <a:noFill/>
          <a:ln/>
        </p:spPr>
        <p:txBody>
          <a:bodyPr wrap="square" rtlCol="0" anchor="ctr"/>
          <a:lstStyle/>
          <a:p>
            <a:pPr indent="0" marL="0">
              <a:buNone/>
            </a:pPr>
            <a:r>
              <a:rPr lang="en-US" sz="850" dirty="0">
                <a:solidFill>
                  <a:srgbClr val="991B1B"/>
                </a:solidFill>
                <a:latin typeface="Arial" pitchFamily="34" charset="0"/>
                <a:ea typeface="Arial" pitchFamily="34" charset="-122"/>
                <a:cs typeface="Arial" pitchFamily="34" charset="-120"/>
              </a:rPr>
              <a:t>✖ ZERO ACCESS to read student messages</a:t>
            </a:r>
            <a:endParaRPr lang="en-US" sz="850" dirty="0"/>
          </a:p>
        </p:txBody>
      </p:sp>
      <p:sp>
        <p:nvSpPr>
          <p:cNvPr id="45" name="Text 43"/>
          <p:cNvSpPr/>
          <p:nvPr/>
        </p:nvSpPr>
        <p:spPr>
          <a:xfrm>
            <a:off x="6355080" y="5532120"/>
            <a:ext cx="2286000" cy="411480"/>
          </a:xfrm>
          <a:prstGeom prst="rect">
            <a:avLst/>
          </a:prstGeom>
          <a:noFill/>
          <a:ln/>
        </p:spPr>
        <p:txBody>
          <a:bodyPr wrap="square" rtlCol="0" anchor="ctr"/>
          <a:lstStyle/>
          <a:p>
            <a:pPr indent="0" marL="0">
              <a:buNone/>
            </a:pPr>
            <a:r>
              <a:rPr lang="en-US" sz="850" dirty="0">
                <a:solidFill>
                  <a:srgbClr val="991B1B"/>
                </a:solidFill>
                <a:latin typeface="Arial" pitchFamily="34" charset="0"/>
                <a:ea typeface="Arial" pitchFamily="34" charset="-122"/>
                <a:cs typeface="Arial" pitchFamily="34" charset="-120"/>
              </a:rPr>
              <a:t>✖ Zero access to replies or complaint logs</a:t>
            </a:r>
            <a:endParaRPr lang="en-US" sz="850" dirty="0"/>
          </a:p>
        </p:txBody>
      </p:sp>
      <p:sp>
        <p:nvSpPr>
          <p:cNvPr id="46" name="Shape 44"/>
          <p:cNvSpPr/>
          <p:nvPr/>
        </p:nvSpPr>
        <p:spPr>
          <a:xfrm>
            <a:off x="8961120" y="1463040"/>
            <a:ext cx="2560320" cy="4572000"/>
          </a:xfrm>
          <a:prstGeom prst="roundRect">
            <a:avLst>
              <a:gd name="adj" fmla="val 4286"/>
            </a:avLst>
          </a:prstGeom>
          <a:solidFill>
            <a:srgbClr val="FFFFFF"/>
          </a:solidFill>
          <a:ln w="15240">
            <a:solidFill>
              <a:srgbClr val="CBD5E1"/>
            </a:solidFill>
            <a:prstDash val="solid"/>
          </a:ln>
        </p:spPr>
      </p:sp>
      <p:sp>
        <p:nvSpPr>
          <p:cNvPr id="47" name="Shape 45"/>
          <p:cNvSpPr/>
          <p:nvPr/>
        </p:nvSpPr>
        <p:spPr>
          <a:xfrm>
            <a:off x="10012680" y="1645920"/>
            <a:ext cx="457200" cy="457200"/>
          </a:xfrm>
          <a:prstGeom prst="ellipse">
            <a:avLst/>
          </a:prstGeom>
          <a:solidFill>
            <a:srgbClr val="E11D48"/>
          </a:solidFill>
          <a:ln w="12700">
            <a:solidFill>
              <a:srgbClr val="E11D48"/>
            </a:solidFill>
            <a:prstDash val="solid"/>
          </a:ln>
        </p:spPr>
      </p:sp>
      <p:sp>
        <p:nvSpPr>
          <p:cNvPr id="48" name="Text 46"/>
          <p:cNvSpPr/>
          <p:nvPr/>
        </p:nvSpPr>
        <p:spPr>
          <a:xfrm>
            <a:off x="10012680" y="1691640"/>
            <a:ext cx="457200"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49" name="Text 47"/>
          <p:cNvSpPr/>
          <p:nvPr/>
        </p:nvSpPr>
        <p:spPr>
          <a:xfrm>
            <a:off x="9052560" y="2148840"/>
            <a:ext cx="2377440" cy="320040"/>
          </a:xfrm>
          <a:prstGeom prst="rect">
            <a:avLst/>
          </a:prstGeom>
          <a:noFill/>
          <a:ln/>
        </p:spPr>
        <p:txBody>
          <a:bodyPr wrap="square" rtlCol="0" anchor="ctr"/>
          <a:lstStyle/>
          <a:p>
            <a:pPr algn="ctr" indent="0" marL="0">
              <a:buNone/>
            </a:pPr>
            <a:r>
              <a:rPr lang="en-US" sz="1100" b="1" dirty="0">
                <a:solidFill>
                  <a:srgbClr val="0F172A"/>
                </a:solidFill>
                <a:latin typeface="Arial" pitchFamily="34" charset="0"/>
                <a:ea typeface="Arial" pitchFamily="34" charset="-122"/>
                <a:cs typeface="Arial" pitchFamily="34" charset="-120"/>
              </a:rPr>
              <a:t>SUPER ADMINISTRATOR</a:t>
            </a:r>
            <a:endParaRPr lang="en-US" sz="1100" dirty="0"/>
          </a:p>
        </p:txBody>
      </p:sp>
      <p:sp>
        <p:nvSpPr>
          <p:cNvPr id="50" name="Text 48"/>
          <p:cNvSpPr/>
          <p:nvPr/>
        </p:nvSpPr>
        <p:spPr>
          <a:xfrm>
            <a:off x="9052560" y="2423160"/>
            <a:ext cx="2377440" cy="228600"/>
          </a:xfrm>
          <a:prstGeom prst="rect">
            <a:avLst/>
          </a:prstGeom>
          <a:noFill/>
          <a:ln/>
        </p:spPr>
        <p:txBody>
          <a:bodyPr wrap="square" rtlCol="0" anchor="ctr"/>
          <a:lstStyle/>
          <a:p>
            <a:pPr algn="ctr" indent="0" marL="0">
              <a:buNone/>
            </a:pPr>
            <a:r>
              <a:rPr lang="en-US" sz="900" b="1" dirty="0">
                <a:solidFill>
                  <a:srgbClr val="E11D48"/>
                </a:solidFill>
                <a:latin typeface="Arial" pitchFamily="34" charset="0"/>
                <a:ea typeface="Arial" pitchFamily="34" charset="-122"/>
                <a:cs typeface="Arial" pitchFamily="34" charset="-120"/>
              </a:rPr>
              <a:t>MASTER AUDIT &amp; DISPATCH</a:t>
            </a:r>
            <a:endParaRPr lang="en-US" sz="900" dirty="0"/>
          </a:p>
        </p:txBody>
      </p:sp>
      <p:sp>
        <p:nvSpPr>
          <p:cNvPr id="51" name="Shape 49"/>
          <p:cNvSpPr/>
          <p:nvPr/>
        </p:nvSpPr>
        <p:spPr>
          <a:xfrm>
            <a:off x="9144000" y="2743200"/>
            <a:ext cx="2194560" cy="0"/>
          </a:xfrm>
          <a:prstGeom prst="line">
            <a:avLst/>
          </a:prstGeom>
          <a:noFill/>
          <a:ln w="12700">
            <a:solidFill>
              <a:srgbClr val="E2E8F0"/>
            </a:solidFill>
            <a:prstDash val="solid"/>
          </a:ln>
        </p:spPr>
      </p:sp>
      <p:sp>
        <p:nvSpPr>
          <p:cNvPr id="52" name="Text 50"/>
          <p:cNvSpPr/>
          <p:nvPr/>
        </p:nvSpPr>
        <p:spPr>
          <a:xfrm>
            <a:off x="9098280" y="2834640"/>
            <a:ext cx="2286000" cy="228600"/>
          </a:xfrm>
          <a:prstGeom prst="rect">
            <a:avLst/>
          </a:prstGeom>
          <a:noFill/>
          <a:ln/>
        </p:spPr>
        <p:txBody>
          <a:bodyPr wrap="square" rtlCol="0" anchor="ctr"/>
          <a:lstStyle/>
          <a:p>
            <a:pPr indent="0" marL="0">
              <a:buNone/>
            </a:pPr>
            <a:r>
              <a:rPr lang="en-US" sz="850" b="1" dirty="0">
                <a:solidFill>
                  <a:srgbClr val="059669"/>
                </a:solidFill>
                <a:latin typeface="Arial" pitchFamily="34" charset="0"/>
                <a:ea typeface="Arial" pitchFamily="34" charset="-122"/>
                <a:cs typeface="Arial" pitchFamily="34" charset="-120"/>
              </a:rPr>
              <a:t>PERMITTED:</a:t>
            </a:r>
            <a:endParaRPr lang="en-US" sz="850" dirty="0"/>
          </a:p>
        </p:txBody>
      </p:sp>
      <p:sp>
        <p:nvSpPr>
          <p:cNvPr id="53" name="Text 51"/>
          <p:cNvSpPr/>
          <p:nvPr/>
        </p:nvSpPr>
        <p:spPr>
          <a:xfrm>
            <a:off x="9098280" y="3063240"/>
            <a:ext cx="2286000" cy="411480"/>
          </a:xfrm>
          <a:prstGeom prst="rect">
            <a:avLst/>
          </a:prstGeom>
          <a:noFill/>
          <a:ln/>
        </p:spPr>
        <p:txBody>
          <a:bodyPr wrap="square" rtlCol="0" anchor="ctr"/>
          <a:lstStyle/>
          <a:p>
            <a:pPr indent="0" marL="0">
              <a:buNone/>
            </a:pPr>
            <a:r>
              <a:rPr lang="en-US" sz="850" dirty="0">
                <a:solidFill>
                  <a:srgbClr val="334155"/>
                </a:solidFill>
                <a:latin typeface="Arial" pitchFamily="34" charset="0"/>
                <a:ea typeface="Arial" pitchFamily="34" charset="-122"/>
                <a:cs typeface="Arial" pitchFamily="34" charset="-120"/>
              </a:rPr>
              <a:t>✔ Exclusive jurisdiction over harassment cases</a:t>
            </a:r>
            <a:endParaRPr lang="en-US" sz="850" dirty="0"/>
          </a:p>
        </p:txBody>
      </p:sp>
      <p:sp>
        <p:nvSpPr>
          <p:cNvPr id="54" name="Text 52"/>
          <p:cNvSpPr/>
          <p:nvPr/>
        </p:nvSpPr>
        <p:spPr>
          <a:xfrm>
            <a:off x="9098280" y="3502152"/>
            <a:ext cx="2286000" cy="411480"/>
          </a:xfrm>
          <a:prstGeom prst="rect">
            <a:avLst/>
          </a:prstGeom>
          <a:noFill/>
          <a:ln/>
        </p:spPr>
        <p:txBody>
          <a:bodyPr wrap="square" rtlCol="0" anchor="ctr"/>
          <a:lstStyle/>
          <a:p>
            <a:pPr indent="0" marL="0">
              <a:buNone/>
            </a:pPr>
            <a:r>
              <a:rPr lang="en-US" sz="850" dirty="0">
                <a:solidFill>
                  <a:srgbClr val="334155"/>
                </a:solidFill>
                <a:latin typeface="Arial" pitchFamily="34" charset="0"/>
                <a:ea typeface="Arial" pitchFamily="34" charset="-122"/>
                <a:cs typeface="Arial" pitchFamily="34" charset="-120"/>
              </a:rPr>
              <a:t>✔ Download Word (.docx) tribunal case dossiers</a:t>
            </a:r>
            <a:endParaRPr lang="en-US" sz="850" dirty="0"/>
          </a:p>
        </p:txBody>
      </p:sp>
      <p:sp>
        <p:nvSpPr>
          <p:cNvPr id="55" name="Text 53"/>
          <p:cNvSpPr/>
          <p:nvPr/>
        </p:nvSpPr>
        <p:spPr>
          <a:xfrm>
            <a:off x="9098280" y="3941064"/>
            <a:ext cx="2286000" cy="411480"/>
          </a:xfrm>
          <a:prstGeom prst="rect">
            <a:avLst/>
          </a:prstGeom>
          <a:noFill/>
          <a:ln/>
        </p:spPr>
        <p:txBody>
          <a:bodyPr wrap="square" rtlCol="0" anchor="ctr"/>
          <a:lstStyle/>
          <a:p>
            <a:pPr indent="0" marL="0">
              <a:buNone/>
            </a:pPr>
            <a:r>
              <a:rPr lang="en-US" sz="850" dirty="0">
                <a:solidFill>
                  <a:srgbClr val="334155"/>
                </a:solidFill>
                <a:latin typeface="Arial" pitchFamily="34" charset="0"/>
                <a:ea typeface="Arial" pitchFamily="34" charset="-122"/>
                <a:cs typeface="Arial" pitchFamily="34" charset="-120"/>
              </a:rPr>
              <a:t>✔ Live platform emergency contact editing</a:t>
            </a:r>
            <a:endParaRPr lang="en-US" sz="850" dirty="0"/>
          </a:p>
        </p:txBody>
      </p:sp>
      <p:sp>
        <p:nvSpPr>
          <p:cNvPr id="56" name="Text 54"/>
          <p:cNvSpPr/>
          <p:nvPr/>
        </p:nvSpPr>
        <p:spPr>
          <a:xfrm>
            <a:off x="9098280" y="4379976"/>
            <a:ext cx="2286000" cy="411480"/>
          </a:xfrm>
          <a:prstGeom prst="rect">
            <a:avLst/>
          </a:prstGeom>
          <a:noFill/>
          <a:ln/>
        </p:spPr>
        <p:txBody>
          <a:bodyPr wrap="square" rtlCol="0" anchor="ctr"/>
          <a:lstStyle/>
          <a:p>
            <a:pPr indent="0" marL="0">
              <a:buNone/>
            </a:pPr>
            <a:r>
              <a:rPr lang="en-US" sz="850" dirty="0">
                <a:solidFill>
                  <a:srgbClr val="334155"/>
                </a:solidFill>
                <a:latin typeface="Arial" pitchFamily="34" charset="0"/>
                <a:ea typeface="Arial" pitchFamily="34" charset="-122"/>
                <a:cs typeface="Arial" pitchFamily="34" charset="-120"/>
              </a:rPr>
              <a:t>✔ Master privacy audit &amp; user access control</a:t>
            </a:r>
            <a:endParaRPr lang="en-US" sz="850" dirty="0"/>
          </a:p>
        </p:txBody>
      </p:sp>
      <p:sp>
        <p:nvSpPr>
          <p:cNvPr id="57" name="Text 55"/>
          <p:cNvSpPr/>
          <p:nvPr/>
        </p:nvSpPr>
        <p:spPr>
          <a:xfrm>
            <a:off x="9098280" y="4892040"/>
            <a:ext cx="2286000" cy="228600"/>
          </a:xfrm>
          <a:prstGeom prst="rect">
            <a:avLst/>
          </a:prstGeom>
          <a:noFill/>
          <a:ln/>
        </p:spPr>
        <p:txBody>
          <a:bodyPr wrap="square" rtlCol="0" anchor="ctr"/>
          <a:lstStyle/>
          <a:p>
            <a:pPr indent="0" marL="0">
              <a:buNone/>
            </a:pPr>
            <a:r>
              <a:rPr lang="en-US" sz="850" b="1" dirty="0">
                <a:solidFill>
                  <a:srgbClr val="E11D48"/>
                </a:solidFill>
                <a:latin typeface="Arial" pitchFamily="34" charset="0"/>
                <a:ea typeface="Arial" pitchFamily="34" charset="-122"/>
                <a:cs typeface="Arial" pitchFamily="34" charset="-120"/>
              </a:rPr>
              <a:t>RESTRICTED:</a:t>
            </a:r>
            <a:endParaRPr lang="en-US" sz="850" dirty="0"/>
          </a:p>
        </p:txBody>
      </p:sp>
      <p:sp>
        <p:nvSpPr>
          <p:cNvPr id="58" name="Text 56"/>
          <p:cNvSpPr/>
          <p:nvPr/>
        </p:nvSpPr>
        <p:spPr>
          <a:xfrm>
            <a:off x="9098280" y="5120640"/>
            <a:ext cx="2286000" cy="411480"/>
          </a:xfrm>
          <a:prstGeom prst="rect">
            <a:avLst/>
          </a:prstGeom>
          <a:noFill/>
          <a:ln/>
        </p:spPr>
        <p:txBody>
          <a:bodyPr wrap="square" rtlCol="0" anchor="ctr"/>
          <a:lstStyle/>
          <a:p>
            <a:pPr indent="0" marL="0">
              <a:buNone/>
            </a:pPr>
            <a:r>
              <a:rPr lang="en-US" sz="850" dirty="0">
                <a:solidFill>
                  <a:srgbClr val="991B1B"/>
                </a:solidFill>
                <a:latin typeface="Arial" pitchFamily="34" charset="0"/>
                <a:ea typeface="Arial" pitchFamily="34" charset="-122"/>
                <a:cs typeface="Arial" pitchFamily="34" charset="-120"/>
              </a:rPr>
              <a:t>✖ Cannot delete immutable audit records</a:t>
            </a:r>
            <a:endParaRPr lang="en-US" sz="850" dirty="0"/>
          </a:p>
        </p:txBody>
      </p:sp>
      <p:sp>
        <p:nvSpPr>
          <p:cNvPr id="59" name="Text 57"/>
          <p:cNvSpPr/>
          <p:nvPr/>
        </p:nvSpPr>
        <p:spPr>
          <a:xfrm>
            <a:off x="9098280" y="5532120"/>
            <a:ext cx="2286000" cy="411480"/>
          </a:xfrm>
          <a:prstGeom prst="rect">
            <a:avLst/>
          </a:prstGeom>
          <a:noFill/>
          <a:ln/>
        </p:spPr>
        <p:txBody>
          <a:bodyPr wrap="square" rtlCol="0" anchor="ctr"/>
          <a:lstStyle/>
          <a:p>
            <a:pPr indent="0" marL="0">
              <a:buNone/>
            </a:pPr>
            <a:r>
              <a:rPr lang="en-US" sz="850" dirty="0">
                <a:solidFill>
                  <a:srgbClr val="991B1B"/>
                </a:solidFill>
                <a:latin typeface="Arial" pitchFamily="34" charset="0"/>
                <a:ea typeface="Arial" pitchFamily="34" charset="-122"/>
                <a:cs typeface="Arial" pitchFamily="34" charset="-120"/>
              </a:rPr>
              <a:t>✖ Account subject to multi-party audit checks</a:t>
            </a:r>
            <a:endParaRPr lang="en-US" sz="850" dirty="0"/>
          </a:p>
        </p:txBody>
      </p:sp>
      <p:sp>
        <p:nvSpPr>
          <p:cNvPr id="60" name="Text 58"/>
          <p:cNvSpPr/>
          <p:nvPr/>
        </p:nvSpPr>
        <p:spPr>
          <a:xfrm>
            <a:off x="731520" y="6400800"/>
            <a:ext cx="1069848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Samara Student Voices | Confidential &amp; Charter-Protected | Slide 4 of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10698480" cy="27432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SAMARA UNIVERSITY — STUDENT VOICE &amp; SAFETY NETWORK</a:t>
            </a:r>
            <a:endParaRPr lang="en-US" sz="1000" dirty="0"/>
          </a:p>
        </p:txBody>
      </p:sp>
      <p:sp>
        <p:nvSpPr>
          <p:cNvPr id="3" name="Text 1"/>
          <p:cNvSpPr/>
          <p:nvPr/>
        </p:nvSpPr>
        <p:spPr>
          <a:xfrm>
            <a:off x="731520" y="594360"/>
            <a:ext cx="1069848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Three Dedicated, Specialized Reporting Channels</a:t>
            </a:r>
            <a:endParaRPr lang="en-US" sz="2200" dirty="0"/>
          </a:p>
        </p:txBody>
      </p:sp>
      <p:sp>
        <p:nvSpPr>
          <p:cNvPr id="4" name="Shape 2"/>
          <p:cNvSpPr/>
          <p:nvPr/>
        </p:nvSpPr>
        <p:spPr>
          <a:xfrm>
            <a:off x="731520" y="1188720"/>
            <a:ext cx="10698480" cy="0"/>
          </a:xfrm>
          <a:prstGeom prst="line">
            <a:avLst/>
          </a:prstGeom>
          <a:noFill/>
          <a:ln w="12700">
            <a:solidFill>
              <a:srgbClr val="CBD5E1"/>
            </a:solidFill>
            <a:prstDash val="solid"/>
          </a:ln>
        </p:spPr>
      </p:sp>
      <p:sp>
        <p:nvSpPr>
          <p:cNvPr id="5" name="Shape 3"/>
          <p:cNvSpPr/>
          <p:nvPr/>
        </p:nvSpPr>
        <p:spPr>
          <a:xfrm>
            <a:off x="731520" y="1463040"/>
            <a:ext cx="3383280" cy="4572000"/>
          </a:xfrm>
          <a:prstGeom prst="roundRect">
            <a:avLst>
              <a:gd name="adj" fmla="val 3243"/>
            </a:avLst>
          </a:prstGeom>
          <a:solidFill>
            <a:srgbClr val="FFFFFF"/>
          </a:solidFill>
          <a:ln w="19050">
            <a:solidFill>
              <a:srgbClr val="FECDD3"/>
            </a:solidFill>
            <a:prstDash val="solid"/>
          </a:ln>
        </p:spPr>
      </p:sp>
      <p:sp>
        <p:nvSpPr>
          <p:cNvPr id="6" name="Shape 4"/>
          <p:cNvSpPr/>
          <p:nvPr/>
        </p:nvSpPr>
        <p:spPr>
          <a:xfrm>
            <a:off x="914400" y="1645920"/>
            <a:ext cx="3017520" cy="320040"/>
          </a:xfrm>
          <a:prstGeom prst="roundRect">
            <a:avLst>
              <a:gd name="adj" fmla="val 22857"/>
            </a:avLst>
          </a:prstGeom>
          <a:solidFill>
            <a:srgbClr val="FFF1F2"/>
          </a:solidFill>
          <a:ln w="12700">
            <a:solidFill>
              <a:srgbClr val="FECDD3"/>
            </a:solidFill>
            <a:prstDash val="solid"/>
          </a:ln>
        </p:spPr>
      </p:sp>
      <p:sp>
        <p:nvSpPr>
          <p:cNvPr id="7" name="Text 5"/>
          <p:cNvSpPr/>
          <p:nvPr/>
        </p:nvSpPr>
        <p:spPr>
          <a:xfrm>
            <a:off x="914400" y="1691640"/>
            <a:ext cx="3017520" cy="228600"/>
          </a:xfrm>
          <a:prstGeom prst="rect">
            <a:avLst/>
          </a:prstGeom>
          <a:noFill/>
          <a:ln/>
        </p:spPr>
        <p:txBody>
          <a:bodyPr wrap="square" rtlCol="0" anchor="ctr"/>
          <a:lstStyle/>
          <a:p>
            <a:pPr algn="ctr" indent="0" marL="0">
              <a:buNone/>
            </a:pPr>
            <a:r>
              <a:rPr lang="en-US" sz="850" b="1" dirty="0">
                <a:solidFill>
                  <a:srgbClr val="E11D48"/>
                </a:solidFill>
                <a:latin typeface="Arial" pitchFamily="34" charset="0"/>
                <a:ea typeface="Arial" pitchFamily="34" charset="-122"/>
                <a:cs typeface="Arial" pitchFamily="34" charset="-120"/>
              </a:rPr>
              <a:t>ZERO TOLERANCE • SUPER ADMIN ONLY</a:t>
            </a:r>
            <a:endParaRPr lang="en-US" sz="850" dirty="0"/>
          </a:p>
        </p:txBody>
      </p:sp>
      <p:sp>
        <p:nvSpPr>
          <p:cNvPr id="8" name="Text 6"/>
          <p:cNvSpPr/>
          <p:nvPr/>
        </p:nvSpPr>
        <p:spPr>
          <a:xfrm>
            <a:off x="914400" y="2103120"/>
            <a:ext cx="3017520" cy="548640"/>
          </a:xfrm>
          <a:prstGeom prst="rect">
            <a:avLst/>
          </a:prstGeom>
          <a:noFill/>
          <a:ln/>
        </p:spPr>
        <p:txBody>
          <a:bodyPr wrap="square" rtlCol="0" anchor="ctr"/>
          <a:lstStyle/>
          <a:p>
            <a:pPr indent="0" marL="0">
              <a:buNone/>
            </a:pPr>
            <a:r>
              <a:rPr lang="en-US" sz="1200" b="1" dirty="0">
                <a:solidFill>
                  <a:srgbClr val="0F172A"/>
                </a:solidFill>
                <a:latin typeface="Arial" pitchFamily="34" charset="0"/>
                <a:ea typeface="Arial" pitchFamily="34" charset="-122"/>
                <a:cs typeface="Arial" pitchFamily="34" charset="-120"/>
              </a:rPr>
              <a:t>🔴 Anti-Harassment &amp; Anti-Extortion</a:t>
            </a:r>
            <a:endParaRPr lang="en-US" sz="1200" dirty="0"/>
          </a:p>
        </p:txBody>
      </p:sp>
      <p:sp>
        <p:nvSpPr>
          <p:cNvPr id="9" name="Text 7"/>
          <p:cNvSpPr/>
          <p:nvPr/>
        </p:nvSpPr>
        <p:spPr>
          <a:xfrm>
            <a:off x="914400" y="2697480"/>
            <a:ext cx="3017520" cy="7315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Confidential reporting for sexual harassment, coercion, stalking, extortion, intimidation, or grading bias.</a:t>
            </a:r>
            <a:endParaRPr lang="en-US" sz="1000" dirty="0"/>
          </a:p>
        </p:txBody>
      </p:sp>
      <p:sp>
        <p:nvSpPr>
          <p:cNvPr id="10" name="Shape 8"/>
          <p:cNvSpPr/>
          <p:nvPr/>
        </p:nvSpPr>
        <p:spPr>
          <a:xfrm>
            <a:off x="914400" y="3474720"/>
            <a:ext cx="3017520" cy="0"/>
          </a:xfrm>
          <a:prstGeom prst="line">
            <a:avLst/>
          </a:prstGeom>
          <a:noFill/>
          <a:ln w="12700">
            <a:solidFill>
              <a:srgbClr val="E2E8F0"/>
            </a:solidFill>
            <a:prstDash val="solid"/>
          </a:ln>
        </p:spPr>
      </p:sp>
      <p:sp>
        <p:nvSpPr>
          <p:cNvPr id="11" name="Text 9"/>
          <p:cNvSpPr/>
          <p:nvPr/>
        </p:nvSpPr>
        <p:spPr>
          <a:xfrm>
            <a:off x="914400" y="3657600"/>
            <a:ext cx="3017520" cy="594360"/>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Direct routing strictly to Dean / Super Admin workspace</a:t>
            </a:r>
            <a:endParaRPr lang="en-US" sz="950" dirty="0"/>
          </a:p>
        </p:txBody>
      </p:sp>
      <p:sp>
        <p:nvSpPr>
          <p:cNvPr id="12" name="Text 10"/>
          <p:cNvSpPr/>
          <p:nvPr/>
        </p:nvSpPr>
        <p:spPr>
          <a:xfrm>
            <a:off x="914400" y="4279392"/>
            <a:ext cx="3017520" cy="594360"/>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Executive council members have ZERO visibility or access</a:t>
            </a:r>
            <a:endParaRPr lang="en-US" sz="950" dirty="0"/>
          </a:p>
        </p:txBody>
      </p:sp>
      <p:sp>
        <p:nvSpPr>
          <p:cNvPr id="13" name="Text 11"/>
          <p:cNvSpPr/>
          <p:nvPr/>
        </p:nvSpPr>
        <p:spPr>
          <a:xfrm>
            <a:off x="914400" y="4901184"/>
            <a:ext cx="3017520" cy="594360"/>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Full optional anonymity to safeguard academic standing</a:t>
            </a:r>
            <a:endParaRPr lang="en-US" sz="950" dirty="0"/>
          </a:p>
        </p:txBody>
      </p:sp>
      <p:sp>
        <p:nvSpPr>
          <p:cNvPr id="14" name="Text 12"/>
          <p:cNvSpPr/>
          <p:nvPr/>
        </p:nvSpPr>
        <p:spPr>
          <a:xfrm>
            <a:off x="914400" y="5522976"/>
            <a:ext cx="3017520" cy="594360"/>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Exportable Word (.docx) dossier formatted for legal tribunals</a:t>
            </a:r>
            <a:endParaRPr lang="en-US" sz="950" dirty="0"/>
          </a:p>
        </p:txBody>
      </p:sp>
      <p:sp>
        <p:nvSpPr>
          <p:cNvPr id="15" name="Shape 13"/>
          <p:cNvSpPr/>
          <p:nvPr/>
        </p:nvSpPr>
        <p:spPr>
          <a:xfrm>
            <a:off x="4389120" y="1463040"/>
            <a:ext cx="3383280" cy="4572000"/>
          </a:xfrm>
          <a:prstGeom prst="roundRect">
            <a:avLst>
              <a:gd name="adj" fmla="val 3243"/>
            </a:avLst>
          </a:prstGeom>
          <a:solidFill>
            <a:srgbClr val="FFFFFF"/>
          </a:solidFill>
          <a:ln w="19050">
            <a:solidFill>
              <a:srgbClr val="FBCFE8"/>
            </a:solidFill>
            <a:prstDash val="solid"/>
          </a:ln>
        </p:spPr>
      </p:sp>
      <p:sp>
        <p:nvSpPr>
          <p:cNvPr id="16" name="Shape 14"/>
          <p:cNvSpPr/>
          <p:nvPr/>
        </p:nvSpPr>
        <p:spPr>
          <a:xfrm>
            <a:off x="4572000" y="1645920"/>
            <a:ext cx="3017520" cy="320040"/>
          </a:xfrm>
          <a:prstGeom prst="roundRect">
            <a:avLst>
              <a:gd name="adj" fmla="val 22857"/>
            </a:avLst>
          </a:prstGeom>
          <a:solidFill>
            <a:srgbClr val="FDF2F8"/>
          </a:solidFill>
          <a:ln w="12700">
            <a:solidFill>
              <a:srgbClr val="FBCFE8"/>
            </a:solidFill>
            <a:prstDash val="solid"/>
          </a:ln>
        </p:spPr>
      </p:sp>
      <p:sp>
        <p:nvSpPr>
          <p:cNvPr id="17" name="Text 15"/>
          <p:cNvSpPr/>
          <p:nvPr/>
        </p:nvSpPr>
        <p:spPr>
          <a:xfrm>
            <a:off x="4572000" y="1691640"/>
            <a:ext cx="3017520" cy="228600"/>
          </a:xfrm>
          <a:prstGeom prst="rect">
            <a:avLst/>
          </a:prstGeom>
          <a:noFill/>
          <a:ln/>
        </p:spPr>
        <p:txBody>
          <a:bodyPr wrap="square" rtlCol="0" anchor="ctr"/>
          <a:lstStyle/>
          <a:p>
            <a:pPr algn="ctr" indent="0" marL="0">
              <a:buNone/>
            </a:pPr>
            <a:r>
              <a:rPr lang="en-US" sz="850" b="1" dirty="0">
                <a:solidFill>
                  <a:srgbClr val="BE185D"/>
                </a:solidFill>
                <a:latin typeface="Arial" pitchFamily="34" charset="0"/>
                <a:ea typeface="Arial" pitchFamily="34" charset="-122"/>
                <a:cs typeface="Arial" pitchFamily="34" charset="-120"/>
              </a:rPr>
              <a:t>PRIORITY CRISIS INTERVENTION</a:t>
            </a:r>
            <a:endParaRPr lang="en-US" sz="850" dirty="0"/>
          </a:p>
        </p:txBody>
      </p:sp>
      <p:sp>
        <p:nvSpPr>
          <p:cNvPr id="18" name="Text 16"/>
          <p:cNvSpPr/>
          <p:nvPr/>
        </p:nvSpPr>
        <p:spPr>
          <a:xfrm>
            <a:off x="4572000" y="2103120"/>
            <a:ext cx="3017520" cy="548640"/>
          </a:xfrm>
          <a:prstGeom prst="rect">
            <a:avLst/>
          </a:prstGeom>
          <a:noFill/>
          <a:ln/>
        </p:spPr>
        <p:txBody>
          <a:bodyPr wrap="square" rtlCol="0" anchor="ctr"/>
          <a:lstStyle/>
          <a:p>
            <a:pPr indent="0" marL="0">
              <a:buNone/>
            </a:pPr>
            <a:r>
              <a:rPr lang="en-US" sz="1200" b="1" dirty="0">
                <a:solidFill>
                  <a:srgbClr val="0F172A"/>
                </a:solidFill>
                <a:latin typeface="Arial" pitchFamily="34" charset="0"/>
                <a:ea typeface="Arial" pitchFamily="34" charset="-122"/>
                <a:cs typeface="Arial" pitchFamily="34" charset="-120"/>
              </a:rPr>
              <a:t>🌸 Girl &amp; Women Student Safety SOS</a:t>
            </a:r>
            <a:endParaRPr lang="en-US" sz="1200" dirty="0"/>
          </a:p>
        </p:txBody>
      </p:sp>
      <p:sp>
        <p:nvSpPr>
          <p:cNvPr id="19" name="Text 17"/>
          <p:cNvSpPr/>
          <p:nvPr/>
        </p:nvSpPr>
        <p:spPr>
          <a:xfrm>
            <a:off x="4572000" y="2697480"/>
            <a:ext cx="3017520" cy="7315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Trauma-informed safety support for female campus residents facing dorm harassment, transit threats, or violence.</a:t>
            </a:r>
            <a:endParaRPr lang="en-US" sz="1000" dirty="0"/>
          </a:p>
        </p:txBody>
      </p:sp>
      <p:sp>
        <p:nvSpPr>
          <p:cNvPr id="20" name="Shape 18"/>
          <p:cNvSpPr/>
          <p:nvPr/>
        </p:nvSpPr>
        <p:spPr>
          <a:xfrm>
            <a:off x="4572000" y="3474720"/>
            <a:ext cx="3017520" cy="0"/>
          </a:xfrm>
          <a:prstGeom prst="line">
            <a:avLst/>
          </a:prstGeom>
          <a:noFill/>
          <a:ln w="12700">
            <a:solidFill>
              <a:srgbClr val="E2E8F0"/>
            </a:solidFill>
            <a:prstDash val="solid"/>
          </a:ln>
        </p:spPr>
      </p:sp>
      <p:sp>
        <p:nvSpPr>
          <p:cNvPr id="21" name="Text 19"/>
          <p:cNvSpPr/>
          <p:nvPr/>
        </p:nvSpPr>
        <p:spPr>
          <a:xfrm>
            <a:off x="4572000" y="3657600"/>
            <a:ext cx="3017520" cy="594360"/>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Dedicated 24/7 hotline directly to female security officers</a:t>
            </a:r>
            <a:endParaRPr lang="en-US" sz="950" dirty="0"/>
          </a:p>
        </p:txBody>
      </p:sp>
      <p:sp>
        <p:nvSpPr>
          <p:cNvPr id="22" name="Text 20"/>
          <p:cNvSpPr/>
          <p:nvPr/>
        </p:nvSpPr>
        <p:spPr>
          <a:xfrm>
            <a:off x="4572000" y="4279392"/>
            <a:ext cx="3017520" cy="594360"/>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One-tap mobile dialing for instant physical intervention</a:t>
            </a:r>
            <a:endParaRPr lang="en-US" sz="950" dirty="0"/>
          </a:p>
        </p:txBody>
      </p:sp>
      <p:sp>
        <p:nvSpPr>
          <p:cNvPr id="23" name="Text 21"/>
          <p:cNvSpPr/>
          <p:nvPr/>
        </p:nvSpPr>
        <p:spPr>
          <a:xfrm>
            <a:off x="4572000" y="4901184"/>
            <a:ext cx="3017520" cy="594360"/>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Rapid campus security dorm dispatch without public disclosure</a:t>
            </a:r>
            <a:endParaRPr lang="en-US" sz="950" dirty="0"/>
          </a:p>
        </p:txBody>
      </p:sp>
      <p:sp>
        <p:nvSpPr>
          <p:cNvPr id="24" name="Text 22"/>
          <p:cNvSpPr/>
          <p:nvPr/>
        </p:nvSpPr>
        <p:spPr>
          <a:xfrm>
            <a:off x="4572000" y="5522976"/>
            <a:ext cx="3017520" cy="594360"/>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Integrated medical, psychological, and welfare liaisons</a:t>
            </a:r>
            <a:endParaRPr lang="en-US" sz="950" dirty="0"/>
          </a:p>
        </p:txBody>
      </p:sp>
      <p:sp>
        <p:nvSpPr>
          <p:cNvPr id="25" name="Shape 23"/>
          <p:cNvSpPr/>
          <p:nvPr/>
        </p:nvSpPr>
        <p:spPr>
          <a:xfrm>
            <a:off x="8046720" y="1463040"/>
            <a:ext cx="3383280" cy="4572000"/>
          </a:xfrm>
          <a:prstGeom prst="roundRect">
            <a:avLst>
              <a:gd name="adj" fmla="val 3243"/>
            </a:avLst>
          </a:prstGeom>
          <a:solidFill>
            <a:srgbClr val="FFFFFF"/>
          </a:solidFill>
          <a:ln w="19050">
            <a:solidFill>
              <a:srgbClr val="BFDBFE"/>
            </a:solidFill>
            <a:prstDash val="solid"/>
          </a:ln>
        </p:spPr>
      </p:sp>
      <p:sp>
        <p:nvSpPr>
          <p:cNvPr id="26" name="Shape 24"/>
          <p:cNvSpPr/>
          <p:nvPr/>
        </p:nvSpPr>
        <p:spPr>
          <a:xfrm>
            <a:off x="8229600" y="1645920"/>
            <a:ext cx="3017520" cy="320040"/>
          </a:xfrm>
          <a:prstGeom prst="roundRect">
            <a:avLst>
              <a:gd name="adj" fmla="val 22857"/>
            </a:avLst>
          </a:prstGeom>
          <a:solidFill>
            <a:srgbClr val="EFF6FF"/>
          </a:solidFill>
          <a:ln w="12700">
            <a:solidFill>
              <a:srgbClr val="BFDBFE"/>
            </a:solidFill>
            <a:prstDash val="solid"/>
          </a:ln>
        </p:spPr>
      </p:sp>
      <p:sp>
        <p:nvSpPr>
          <p:cNvPr id="27" name="Text 25"/>
          <p:cNvSpPr/>
          <p:nvPr/>
        </p:nvSpPr>
        <p:spPr>
          <a:xfrm>
            <a:off x="8229600" y="1691640"/>
            <a:ext cx="3017520" cy="228600"/>
          </a:xfrm>
          <a:prstGeom prst="rect">
            <a:avLst/>
          </a:prstGeom>
          <a:noFill/>
          <a:ln/>
        </p:spPr>
        <p:txBody>
          <a:bodyPr wrap="square" rtlCol="0" anchor="ctr"/>
          <a:lstStyle/>
          <a:p>
            <a:pPr algn="ctr" indent="0" marL="0">
              <a:buNone/>
            </a:pPr>
            <a:r>
              <a:rPr lang="en-US" sz="850" b="1" dirty="0">
                <a:solidFill>
                  <a:srgbClr val="2563EB"/>
                </a:solidFill>
                <a:latin typeface="Arial" pitchFamily="34" charset="0"/>
                <a:ea typeface="Arial" pitchFamily="34" charset="-122"/>
                <a:cs typeface="Arial" pitchFamily="34" charset="-120"/>
              </a:rPr>
              <a:t>STUDENT EXECUTIVE TRIAGE</a:t>
            </a:r>
            <a:endParaRPr lang="en-US" sz="850" dirty="0"/>
          </a:p>
        </p:txBody>
      </p:sp>
      <p:sp>
        <p:nvSpPr>
          <p:cNvPr id="28" name="Text 26"/>
          <p:cNvSpPr/>
          <p:nvPr/>
        </p:nvSpPr>
        <p:spPr>
          <a:xfrm>
            <a:off x="8229600" y="2103120"/>
            <a:ext cx="3017520" cy="548640"/>
          </a:xfrm>
          <a:prstGeom prst="rect">
            <a:avLst/>
          </a:prstGeom>
          <a:noFill/>
          <a:ln/>
        </p:spPr>
        <p:txBody>
          <a:bodyPr wrap="square" rtlCol="0" anchor="ctr"/>
          <a:lstStyle/>
          <a:p>
            <a:pPr indent="0" marL="0">
              <a:buNone/>
            </a:pPr>
            <a:r>
              <a:rPr lang="en-US" sz="1200" b="1" dirty="0">
                <a:solidFill>
                  <a:srgbClr val="0F172A"/>
                </a:solidFill>
                <a:latin typeface="Arial" pitchFamily="34" charset="0"/>
                <a:ea typeface="Arial" pitchFamily="34" charset="-122"/>
                <a:cs typeface="Arial" pitchFamily="34" charset="-120"/>
              </a:rPr>
              <a:t>📘 Academic &amp; Campus Life Feedback</a:t>
            </a:r>
            <a:endParaRPr lang="en-US" sz="1200" dirty="0"/>
          </a:p>
        </p:txBody>
      </p:sp>
      <p:sp>
        <p:nvSpPr>
          <p:cNvPr id="29" name="Text 27"/>
          <p:cNvSpPr/>
          <p:nvPr/>
        </p:nvSpPr>
        <p:spPr>
          <a:xfrm>
            <a:off x="8229600" y="2697480"/>
            <a:ext cx="3017520" cy="731520"/>
          </a:xfrm>
          <a:prstGeom prst="rect">
            <a:avLst/>
          </a:prstGeom>
          <a:noFill/>
          <a:ln/>
        </p:spPr>
        <p:txBody>
          <a:bodyPr wrap="square" rtlCol="0" anchor="ctr"/>
          <a:lstStyle/>
          <a:p>
            <a:pPr indent="0" marL="0">
              <a:buNone/>
            </a:pPr>
            <a:r>
              <a:rPr lang="en-US" sz="1000" dirty="0">
                <a:solidFill>
                  <a:srgbClr val="64748B"/>
                </a:solidFill>
                <a:latin typeface="Arial" pitchFamily="34" charset="0"/>
                <a:ea typeface="Arial" pitchFamily="34" charset="-122"/>
                <a:cs typeface="Arial" pitchFamily="34" charset="-120"/>
              </a:rPr>
              <a:t>Open feedback channel for curriculum, dorm facilities, cafeteria nutrition, library, and campus improvements.</a:t>
            </a:r>
            <a:endParaRPr lang="en-US" sz="1000" dirty="0"/>
          </a:p>
        </p:txBody>
      </p:sp>
      <p:sp>
        <p:nvSpPr>
          <p:cNvPr id="30" name="Shape 28"/>
          <p:cNvSpPr/>
          <p:nvPr/>
        </p:nvSpPr>
        <p:spPr>
          <a:xfrm>
            <a:off x="8229600" y="3474720"/>
            <a:ext cx="3017520" cy="0"/>
          </a:xfrm>
          <a:prstGeom prst="line">
            <a:avLst/>
          </a:prstGeom>
          <a:noFill/>
          <a:ln w="12700">
            <a:solidFill>
              <a:srgbClr val="E2E8F0"/>
            </a:solidFill>
            <a:prstDash val="solid"/>
          </a:ln>
        </p:spPr>
      </p:sp>
      <p:sp>
        <p:nvSpPr>
          <p:cNvPr id="31" name="Text 29"/>
          <p:cNvSpPr/>
          <p:nvPr/>
        </p:nvSpPr>
        <p:spPr>
          <a:xfrm>
            <a:off x="8229600" y="3657600"/>
            <a:ext cx="3017520" cy="594360"/>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Routed directly to Student Union Executive Council</a:t>
            </a:r>
            <a:endParaRPr lang="en-US" sz="950" dirty="0"/>
          </a:p>
        </p:txBody>
      </p:sp>
      <p:sp>
        <p:nvSpPr>
          <p:cNvPr id="32" name="Text 30"/>
          <p:cNvSpPr/>
          <p:nvPr/>
        </p:nvSpPr>
        <p:spPr>
          <a:xfrm>
            <a:off x="8229600" y="4279392"/>
            <a:ext cx="3017520" cy="594360"/>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Lifecycle status tracking: Pending → In Review → Resolved</a:t>
            </a:r>
            <a:endParaRPr lang="en-US" sz="950" dirty="0"/>
          </a:p>
        </p:txBody>
      </p:sp>
      <p:sp>
        <p:nvSpPr>
          <p:cNvPr id="33" name="Text 31"/>
          <p:cNvSpPr/>
          <p:nvPr/>
        </p:nvSpPr>
        <p:spPr>
          <a:xfrm>
            <a:off x="8229600" y="4901184"/>
            <a:ext cx="3017520" cy="594360"/>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Internal collaboration notes shared among council reviewers</a:t>
            </a:r>
            <a:endParaRPr lang="en-US" sz="950" dirty="0"/>
          </a:p>
        </p:txBody>
      </p:sp>
      <p:sp>
        <p:nvSpPr>
          <p:cNvPr id="34" name="Text 32"/>
          <p:cNvSpPr/>
          <p:nvPr/>
        </p:nvSpPr>
        <p:spPr>
          <a:xfrm>
            <a:off x="8229600" y="5522976"/>
            <a:ext cx="3017520" cy="594360"/>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 Direct 2-way messaging for clarifications and updates</a:t>
            </a:r>
            <a:endParaRPr lang="en-US" sz="950" dirty="0"/>
          </a:p>
        </p:txBody>
      </p:sp>
      <p:sp>
        <p:nvSpPr>
          <p:cNvPr id="35" name="Text 33"/>
          <p:cNvSpPr/>
          <p:nvPr/>
        </p:nvSpPr>
        <p:spPr>
          <a:xfrm>
            <a:off x="731520" y="6400800"/>
            <a:ext cx="1069848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Samara Student Voices | Confidential &amp; Charter-Protected | Slide 5 of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10698480" cy="27432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SAMARA UNIVERSITY — STUDENT VOICE &amp; SAFETY NETWORK</a:t>
            </a:r>
            <a:endParaRPr lang="en-US" sz="1000" dirty="0"/>
          </a:p>
        </p:txBody>
      </p:sp>
      <p:sp>
        <p:nvSpPr>
          <p:cNvPr id="3" name="Text 1"/>
          <p:cNvSpPr/>
          <p:nvPr/>
        </p:nvSpPr>
        <p:spPr>
          <a:xfrm>
            <a:off x="731520" y="594360"/>
            <a:ext cx="1069848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How To Use: The Student Journey</a:t>
            </a:r>
            <a:endParaRPr lang="en-US" sz="2200" dirty="0"/>
          </a:p>
        </p:txBody>
      </p:sp>
      <p:sp>
        <p:nvSpPr>
          <p:cNvPr id="4" name="Shape 2"/>
          <p:cNvSpPr/>
          <p:nvPr/>
        </p:nvSpPr>
        <p:spPr>
          <a:xfrm>
            <a:off x="731520" y="1188720"/>
            <a:ext cx="10698480" cy="0"/>
          </a:xfrm>
          <a:prstGeom prst="line">
            <a:avLst/>
          </a:prstGeom>
          <a:noFill/>
          <a:ln w="12700">
            <a:solidFill>
              <a:srgbClr val="CBD5E1"/>
            </a:solidFill>
            <a:prstDash val="solid"/>
          </a:ln>
        </p:spPr>
      </p:sp>
      <p:sp>
        <p:nvSpPr>
          <p:cNvPr id="5" name="Shape 3"/>
          <p:cNvSpPr/>
          <p:nvPr/>
        </p:nvSpPr>
        <p:spPr>
          <a:xfrm>
            <a:off x="731520" y="1463040"/>
            <a:ext cx="2560320" cy="4572000"/>
          </a:xfrm>
          <a:prstGeom prst="roundRect">
            <a:avLst>
              <a:gd name="adj" fmla="val 4286"/>
            </a:avLst>
          </a:prstGeom>
          <a:solidFill>
            <a:srgbClr val="FFFFFF"/>
          </a:solidFill>
          <a:ln w="15240">
            <a:solidFill>
              <a:srgbClr val="BFDBFE"/>
            </a:solidFill>
            <a:prstDash val="solid"/>
          </a:ln>
        </p:spPr>
      </p:sp>
      <p:sp>
        <p:nvSpPr>
          <p:cNvPr id="6" name="Text 4"/>
          <p:cNvSpPr/>
          <p:nvPr/>
        </p:nvSpPr>
        <p:spPr>
          <a:xfrm>
            <a:off x="731520" y="1828800"/>
            <a:ext cx="256032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7" name="Text 5"/>
          <p:cNvSpPr/>
          <p:nvPr/>
        </p:nvSpPr>
        <p:spPr>
          <a:xfrm>
            <a:off x="731520" y="2468880"/>
            <a:ext cx="2560320" cy="274320"/>
          </a:xfrm>
          <a:prstGeom prst="rect">
            <a:avLst/>
          </a:prstGeom>
          <a:noFill/>
          <a:ln/>
        </p:spPr>
        <p:txBody>
          <a:bodyPr wrap="square" rtlCol="0" anchor="ctr"/>
          <a:lstStyle/>
          <a:p>
            <a:pPr algn="ctr" indent="0" marL="0">
              <a:buNone/>
            </a:pPr>
            <a:r>
              <a:rPr lang="en-US" sz="1100" b="1" dirty="0">
                <a:solidFill>
                  <a:srgbClr val="2563EB"/>
                </a:solidFill>
                <a:latin typeface="Arial" pitchFamily="34" charset="0"/>
                <a:ea typeface="Arial" pitchFamily="34" charset="-122"/>
                <a:cs typeface="Arial" pitchFamily="34" charset="-120"/>
              </a:rPr>
              <a:t>STEP 1</a:t>
            </a:r>
            <a:endParaRPr lang="en-US" sz="1100" dirty="0"/>
          </a:p>
        </p:txBody>
      </p:sp>
      <p:sp>
        <p:nvSpPr>
          <p:cNvPr id="8" name="Text 6"/>
          <p:cNvSpPr/>
          <p:nvPr/>
        </p:nvSpPr>
        <p:spPr>
          <a:xfrm>
            <a:off x="868680" y="2834640"/>
            <a:ext cx="2286000" cy="548640"/>
          </a:xfrm>
          <a:prstGeom prst="rect">
            <a:avLst/>
          </a:prstGeom>
          <a:noFill/>
          <a:ln/>
        </p:spPr>
        <p:txBody>
          <a:bodyPr wrap="square" rtlCol="0" anchor="ctr"/>
          <a:lstStyle/>
          <a:p>
            <a:pPr algn="ctr" indent="0" marL="0">
              <a:buNone/>
            </a:pPr>
            <a:r>
              <a:rPr lang="en-US" sz="1400" b="1" dirty="0">
                <a:solidFill>
                  <a:srgbClr val="0F172A"/>
                </a:solidFill>
                <a:latin typeface="Arial" pitchFamily="34" charset="0"/>
                <a:ea typeface="Arial" pitchFamily="34" charset="-122"/>
                <a:cs typeface="Arial" pitchFamily="34" charset="-120"/>
              </a:rPr>
              <a:t>Register &amp; Verify</a:t>
            </a:r>
            <a:endParaRPr lang="en-US" sz="1400" dirty="0"/>
          </a:p>
        </p:txBody>
      </p:sp>
      <p:sp>
        <p:nvSpPr>
          <p:cNvPr id="9" name="Shape 7"/>
          <p:cNvSpPr/>
          <p:nvPr/>
        </p:nvSpPr>
        <p:spPr>
          <a:xfrm>
            <a:off x="1005840" y="3474720"/>
            <a:ext cx="2011680" cy="0"/>
          </a:xfrm>
          <a:prstGeom prst="line">
            <a:avLst/>
          </a:prstGeom>
          <a:noFill/>
          <a:ln w="12700">
            <a:solidFill>
              <a:srgbClr val="E2E8F0"/>
            </a:solidFill>
            <a:prstDash val="solid"/>
          </a:ln>
        </p:spPr>
      </p:sp>
      <p:sp>
        <p:nvSpPr>
          <p:cNvPr id="10" name="Text 8"/>
          <p:cNvSpPr/>
          <p:nvPr/>
        </p:nvSpPr>
        <p:spPr>
          <a:xfrm>
            <a:off x="914400" y="3749040"/>
            <a:ext cx="2194560" cy="2011680"/>
          </a:xfrm>
          <a:prstGeom prst="rect">
            <a:avLst/>
          </a:prstGeom>
          <a:noFill/>
          <a:ln/>
        </p:spPr>
        <p:txBody>
          <a:bodyPr wrap="square" rtlCol="0" anchor="ctr"/>
          <a:lstStyle/>
          <a:p>
            <a:pPr algn="ctr" indent="0" marL="0">
              <a:lnSpc>
                <a:spcPts val="1600"/>
              </a:lnSpc>
              <a:buNone/>
            </a:pPr>
            <a:r>
              <a:rPr lang="en-US" sz="1050" dirty="0">
                <a:solidFill>
                  <a:srgbClr val="334155"/>
                </a:solidFill>
                <a:latin typeface="Arial" pitchFamily="34" charset="0"/>
                <a:ea typeface="Arial" pitchFamily="34" charset="-122"/>
                <a:cs typeface="Arial" pitchFamily="34" charset="-120"/>
              </a:rPr>
              <a:t>Sign up with your verified Samara University student email. Admin verifies your enrollment against campus records.</a:t>
            </a:r>
            <a:endParaRPr lang="en-US" sz="1050" dirty="0"/>
          </a:p>
        </p:txBody>
      </p:sp>
      <p:sp>
        <p:nvSpPr>
          <p:cNvPr id="11" name="Shape 9"/>
          <p:cNvSpPr/>
          <p:nvPr/>
        </p:nvSpPr>
        <p:spPr>
          <a:xfrm>
            <a:off x="3474720" y="1463040"/>
            <a:ext cx="2560320" cy="4572000"/>
          </a:xfrm>
          <a:prstGeom prst="roundRect">
            <a:avLst>
              <a:gd name="adj" fmla="val 4286"/>
            </a:avLst>
          </a:prstGeom>
          <a:solidFill>
            <a:srgbClr val="FFFFFF"/>
          </a:solidFill>
          <a:ln w="15240">
            <a:solidFill>
              <a:srgbClr val="BFDBFE"/>
            </a:solidFill>
            <a:prstDash val="solid"/>
          </a:ln>
        </p:spPr>
      </p:sp>
      <p:sp>
        <p:nvSpPr>
          <p:cNvPr id="12" name="Text 10"/>
          <p:cNvSpPr/>
          <p:nvPr/>
        </p:nvSpPr>
        <p:spPr>
          <a:xfrm>
            <a:off x="3474720" y="1828800"/>
            <a:ext cx="256032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3" name="Text 11"/>
          <p:cNvSpPr/>
          <p:nvPr/>
        </p:nvSpPr>
        <p:spPr>
          <a:xfrm>
            <a:off x="3474720" y="2468880"/>
            <a:ext cx="2560320" cy="274320"/>
          </a:xfrm>
          <a:prstGeom prst="rect">
            <a:avLst/>
          </a:prstGeom>
          <a:noFill/>
          <a:ln/>
        </p:spPr>
        <p:txBody>
          <a:bodyPr wrap="square" rtlCol="0" anchor="ctr"/>
          <a:lstStyle/>
          <a:p>
            <a:pPr algn="ctr" indent="0" marL="0">
              <a:buNone/>
            </a:pPr>
            <a:r>
              <a:rPr lang="en-US" sz="1100" b="1" dirty="0">
                <a:solidFill>
                  <a:srgbClr val="2563EB"/>
                </a:solidFill>
                <a:latin typeface="Arial" pitchFamily="34" charset="0"/>
                <a:ea typeface="Arial" pitchFamily="34" charset="-122"/>
                <a:cs typeface="Arial" pitchFamily="34" charset="-120"/>
              </a:rPr>
              <a:t>STEP 2</a:t>
            </a:r>
            <a:endParaRPr lang="en-US" sz="1100" dirty="0"/>
          </a:p>
        </p:txBody>
      </p:sp>
      <p:sp>
        <p:nvSpPr>
          <p:cNvPr id="14" name="Text 12"/>
          <p:cNvSpPr/>
          <p:nvPr/>
        </p:nvSpPr>
        <p:spPr>
          <a:xfrm>
            <a:off x="3611880" y="2834640"/>
            <a:ext cx="2286000" cy="548640"/>
          </a:xfrm>
          <a:prstGeom prst="rect">
            <a:avLst/>
          </a:prstGeom>
          <a:noFill/>
          <a:ln/>
        </p:spPr>
        <p:txBody>
          <a:bodyPr wrap="square" rtlCol="0" anchor="ctr"/>
          <a:lstStyle/>
          <a:p>
            <a:pPr algn="ctr" indent="0" marL="0">
              <a:buNone/>
            </a:pPr>
            <a:r>
              <a:rPr lang="en-US" sz="1400" b="1" dirty="0">
                <a:solidFill>
                  <a:srgbClr val="0F172A"/>
                </a:solidFill>
                <a:latin typeface="Arial" pitchFamily="34" charset="0"/>
                <a:ea typeface="Arial" pitchFamily="34" charset="-122"/>
                <a:cs typeface="Arial" pitchFamily="34" charset="-120"/>
              </a:rPr>
              <a:t>Choose Channel</a:t>
            </a:r>
            <a:endParaRPr lang="en-US" sz="1400" dirty="0"/>
          </a:p>
        </p:txBody>
      </p:sp>
      <p:sp>
        <p:nvSpPr>
          <p:cNvPr id="15" name="Shape 13"/>
          <p:cNvSpPr/>
          <p:nvPr/>
        </p:nvSpPr>
        <p:spPr>
          <a:xfrm>
            <a:off x="3749040" y="3474720"/>
            <a:ext cx="2011680" cy="0"/>
          </a:xfrm>
          <a:prstGeom prst="line">
            <a:avLst/>
          </a:prstGeom>
          <a:noFill/>
          <a:ln w="12700">
            <a:solidFill>
              <a:srgbClr val="E2E8F0"/>
            </a:solidFill>
            <a:prstDash val="solid"/>
          </a:ln>
        </p:spPr>
      </p:sp>
      <p:sp>
        <p:nvSpPr>
          <p:cNvPr id="16" name="Text 14"/>
          <p:cNvSpPr/>
          <p:nvPr/>
        </p:nvSpPr>
        <p:spPr>
          <a:xfrm>
            <a:off x="3657600" y="3749040"/>
            <a:ext cx="2194560" cy="2011680"/>
          </a:xfrm>
          <a:prstGeom prst="rect">
            <a:avLst/>
          </a:prstGeom>
          <a:noFill/>
          <a:ln/>
        </p:spPr>
        <p:txBody>
          <a:bodyPr wrap="square" rtlCol="0" anchor="ctr"/>
          <a:lstStyle/>
          <a:p>
            <a:pPr algn="ctr" indent="0" marL="0">
              <a:lnSpc>
                <a:spcPts val="1600"/>
              </a:lnSpc>
              <a:buNone/>
            </a:pPr>
            <a:r>
              <a:rPr lang="en-US" sz="1050" dirty="0">
                <a:solidFill>
                  <a:srgbClr val="334155"/>
                </a:solidFill>
                <a:latin typeface="Arial" pitchFamily="34" charset="0"/>
                <a:ea typeface="Arial" pitchFamily="34" charset="-122"/>
                <a:cs typeface="Arial" pitchFamily="34" charset="-120"/>
              </a:rPr>
              <a:t>Select Harassment (confidential Dean review) or Feedback (Student Council). Toggle "Submit Anonymously" if needed.</a:t>
            </a:r>
            <a:endParaRPr lang="en-US" sz="1050" dirty="0"/>
          </a:p>
        </p:txBody>
      </p:sp>
      <p:sp>
        <p:nvSpPr>
          <p:cNvPr id="17" name="Shape 15"/>
          <p:cNvSpPr/>
          <p:nvPr/>
        </p:nvSpPr>
        <p:spPr>
          <a:xfrm>
            <a:off x="6217920" y="1463040"/>
            <a:ext cx="2560320" cy="4572000"/>
          </a:xfrm>
          <a:prstGeom prst="roundRect">
            <a:avLst>
              <a:gd name="adj" fmla="val 4286"/>
            </a:avLst>
          </a:prstGeom>
          <a:solidFill>
            <a:srgbClr val="FFFFFF"/>
          </a:solidFill>
          <a:ln w="15240">
            <a:solidFill>
              <a:srgbClr val="BFDBFE"/>
            </a:solidFill>
            <a:prstDash val="solid"/>
          </a:ln>
        </p:spPr>
      </p:sp>
      <p:sp>
        <p:nvSpPr>
          <p:cNvPr id="18" name="Text 16"/>
          <p:cNvSpPr/>
          <p:nvPr/>
        </p:nvSpPr>
        <p:spPr>
          <a:xfrm>
            <a:off x="6217920" y="1828800"/>
            <a:ext cx="256032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9" name="Text 17"/>
          <p:cNvSpPr/>
          <p:nvPr/>
        </p:nvSpPr>
        <p:spPr>
          <a:xfrm>
            <a:off x="6217920" y="2468880"/>
            <a:ext cx="2560320" cy="274320"/>
          </a:xfrm>
          <a:prstGeom prst="rect">
            <a:avLst/>
          </a:prstGeom>
          <a:noFill/>
          <a:ln/>
        </p:spPr>
        <p:txBody>
          <a:bodyPr wrap="square" rtlCol="0" anchor="ctr"/>
          <a:lstStyle/>
          <a:p>
            <a:pPr algn="ctr" indent="0" marL="0">
              <a:buNone/>
            </a:pPr>
            <a:r>
              <a:rPr lang="en-US" sz="1100" b="1" dirty="0">
                <a:solidFill>
                  <a:srgbClr val="2563EB"/>
                </a:solidFill>
                <a:latin typeface="Arial" pitchFamily="34" charset="0"/>
                <a:ea typeface="Arial" pitchFamily="34" charset="-122"/>
                <a:cs typeface="Arial" pitchFamily="34" charset="-120"/>
              </a:rPr>
              <a:t>STEP 3</a:t>
            </a:r>
            <a:endParaRPr lang="en-US" sz="1100" dirty="0"/>
          </a:p>
        </p:txBody>
      </p:sp>
      <p:sp>
        <p:nvSpPr>
          <p:cNvPr id="20" name="Text 18"/>
          <p:cNvSpPr/>
          <p:nvPr/>
        </p:nvSpPr>
        <p:spPr>
          <a:xfrm>
            <a:off x="6355080" y="2834640"/>
            <a:ext cx="2286000" cy="548640"/>
          </a:xfrm>
          <a:prstGeom prst="rect">
            <a:avLst/>
          </a:prstGeom>
          <a:noFill/>
          <a:ln/>
        </p:spPr>
        <p:txBody>
          <a:bodyPr wrap="square" rtlCol="0" anchor="ctr"/>
          <a:lstStyle/>
          <a:p>
            <a:pPr algn="ctr" indent="0" marL="0">
              <a:buNone/>
            </a:pPr>
            <a:r>
              <a:rPr lang="en-US" sz="1400" b="1" dirty="0">
                <a:solidFill>
                  <a:srgbClr val="0F172A"/>
                </a:solidFill>
                <a:latin typeface="Arial" pitchFamily="34" charset="0"/>
                <a:ea typeface="Arial" pitchFamily="34" charset="-122"/>
                <a:cs typeface="Arial" pitchFamily="34" charset="-120"/>
              </a:rPr>
              <a:t>Track Live Progress</a:t>
            </a:r>
            <a:endParaRPr lang="en-US" sz="1400" dirty="0"/>
          </a:p>
        </p:txBody>
      </p:sp>
      <p:sp>
        <p:nvSpPr>
          <p:cNvPr id="21" name="Shape 19"/>
          <p:cNvSpPr/>
          <p:nvPr/>
        </p:nvSpPr>
        <p:spPr>
          <a:xfrm>
            <a:off x="6492240" y="3474720"/>
            <a:ext cx="2011680" cy="0"/>
          </a:xfrm>
          <a:prstGeom prst="line">
            <a:avLst/>
          </a:prstGeom>
          <a:noFill/>
          <a:ln w="12700">
            <a:solidFill>
              <a:srgbClr val="E2E8F0"/>
            </a:solidFill>
            <a:prstDash val="solid"/>
          </a:ln>
        </p:spPr>
      </p:sp>
      <p:sp>
        <p:nvSpPr>
          <p:cNvPr id="22" name="Text 20"/>
          <p:cNvSpPr/>
          <p:nvPr/>
        </p:nvSpPr>
        <p:spPr>
          <a:xfrm>
            <a:off x="6400800" y="3749040"/>
            <a:ext cx="2194560" cy="2011680"/>
          </a:xfrm>
          <a:prstGeom prst="rect">
            <a:avLst/>
          </a:prstGeom>
          <a:noFill/>
          <a:ln/>
        </p:spPr>
        <p:txBody>
          <a:bodyPr wrap="square" rtlCol="0" anchor="ctr"/>
          <a:lstStyle/>
          <a:p>
            <a:pPr algn="ctr" indent="0" marL="0">
              <a:lnSpc>
                <a:spcPts val="1600"/>
              </a:lnSpc>
              <a:buNone/>
            </a:pPr>
            <a:r>
              <a:rPr lang="en-US" sz="1050" dirty="0">
                <a:solidFill>
                  <a:srgbClr val="334155"/>
                </a:solidFill>
                <a:latin typeface="Arial" pitchFamily="34" charset="0"/>
                <a:ea typeface="Arial" pitchFamily="34" charset="-122"/>
                <a:cs typeface="Arial" pitchFamily="34" charset="-120"/>
              </a:rPr>
              <a:t>Watch your case move from Pending to In Review to Resolved with real-time status indicators and Ably updates.</a:t>
            </a:r>
            <a:endParaRPr lang="en-US" sz="1050" dirty="0"/>
          </a:p>
        </p:txBody>
      </p:sp>
      <p:sp>
        <p:nvSpPr>
          <p:cNvPr id="23" name="Shape 21"/>
          <p:cNvSpPr/>
          <p:nvPr/>
        </p:nvSpPr>
        <p:spPr>
          <a:xfrm>
            <a:off x="8961120" y="1463040"/>
            <a:ext cx="2560320" cy="4572000"/>
          </a:xfrm>
          <a:prstGeom prst="roundRect">
            <a:avLst>
              <a:gd name="adj" fmla="val 4286"/>
            </a:avLst>
          </a:prstGeom>
          <a:solidFill>
            <a:srgbClr val="FFFFFF"/>
          </a:solidFill>
          <a:ln w="15240">
            <a:solidFill>
              <a:srgbClr val="BFDBFE"/>
            </a:solidFill>
            <a:prstDash val="solid"/>
          </a:ln>
        </p:spPr>
      </p:sp>
      <p:sp>
        <p:nvSpPr>
          <p:cNvPr id="24" name="Text 22"/>
          <p:cNvSpPr/>
          <p:nvPr/>
        </p:nvSpPr>
        <p:spPr>
          <a:xfrm>
            <a:off x="8961120" y="1828800"/>
            <a:ext cx="2560320"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25" name="Text 23"/>
          <p:cNvSpPr/>
          <p:nvPr/>
        </p:nvSpPr>
        <p:spPr>
          <a:xfrm>
            <a:off x="8961120" y="2468880"/>
            <a:ext cx="2560320" cy="274320"/>
          </a:xfrm>
          <a:prstGeom prst="rect">
            <a:avLst/>
          </a:prstGeom>
          <a:noFill/>
          <a:ln/>
        </p:spPr>
        <p:txBody>
          <a:bodyPr wrap="square" rtlCol="0" anchor="ctr"/>
          <a:lstStyle/>
          <a:p>
            <a:pPr algn="ctr" indent="0" marL="0">
              <a:buNone/>
            </a:pPr>
            <a:r>
              <a:rPr lang="en-US" sz="1100" b="1" dirty="0">
                <a:solidFill>
                  <a:srgbClr val="2563EB"/>
                </a:solidFill>
                <a:latin typeface="Arial" pitchFamily="34" charset="0"/>
                <a:ea typeface="Arial" pitchFamily="34" charset="-122"/>
                <a:cs typeface="Arial" pitchFamily="34" charset="-120"/>
              </a:rPr>
              <a:t>STEP 4</a:t>
            </a:r>
            <a:endParaRPr lang="en-US" sz="1100" dirty="0"/>
          </a:p>
        </p:txBody>
      </p:sp>
      <p:sp>
        <p:nvSpPr>
          <p:cNvPr id="26" name="Text 24"/>
          <p:cNvSpPr/>
          <p:nvPr/>
        </p:nvSpPr>
        <p:spPr>
          <a:xfrm>
            <a:off x="9098280" y="2834640"/>
            <a:ext cx="2286000" cy="548640"/>
          </a:xfrm>
          <a:prstGeom prst="rect">
            <a:avLst/>
          </a:prstGeom>
          <a:noFill/>
          <a:ln/>
        </p:spPr>
        <p:txBody>
          <a:bodyPr wrap="square" rtlCol="0" anchor="ctr"/>
          <a:lstStyle/>
          <a:p>
            <a:pPr algn="ctr" indent="0" marL="0">
              <a:buNone/>
            </a:pPr>
            <a:r>
              <a:rPr lang="en-US" sz="1400" b="1" dirty="0">
                <a:solidFill>
                  <a:srgbClr val="0F172A"/>
                </a:solidFill>
                <a:latin typeface="Arial" pitchFamily="34" charset="0"/>
                <a:ea typeface="Arial" pitchFamily="34" charset="-122"/>
                <a:cs typeface="Arial" pitchFamily="34" charset="-120"/>
              </a:rPr>
              <a:t>Private Discussion</a:t>
            </a:r>
            <a:endParaRPr lang="en-US" sz="1400" dirty="0"/>
          </a:p>
        </p:txBody>
      </p:sp>
      <p:sp>
        <p:nvSpPr>
          <p:cNvPr id="27" name="Shape 25"/>
          <p:cNvSpPr/>
          <p:nvPr/>
        </p:nvSpPr>
        <p:spPr>
          <a:xfrm>
            <a:off x="9235440" y="3474720"/>
            <a:ext cx="2011680" cy="0"/>
          </a:xfrm>
          <a:prstGeom prst="line">
            <a:avLst/>
          </a:prstGeom>
          <a:noFill/>
          <a:ln w="12700">
            <a:solidFill>
              <a:srgbClr val="E2E8F0"/>
            </a:solidFill>
            <a:prstDash val="solid"/>
          </a:ln>
        </p:spPr>
      </p:sp>
      <p:sp>
        <p:nvSpPr>
          <p:cNvPr id="28" name="Text 26"/>
          <p:cNvSpPr/>
          <p:nvPr/>
        </p:nvSpPr>
        <p:spPr>
          <a:xfrm>
            <a:off x="9144000" y="3749040"/>
            <a:ext cx="2194560" cy="2011680"/>
          </a:xfrm>
          <a:prstGeom prst="rect">
            <a:avLst/>
          </a:prstGeom>
          <a:noFill/>
          <a:ln/>
        </p:spPr>
        <p:txBody>
          <a:bodyPr wrap="square" rtlCol="0" anchor="ctr"/>
          <a:lstStyle/>
          <a:p>
            <a:pPr algn="ctr" indent="0" marL="0">
              <a:lnSpc>
                <a:spcPts val="1600"/>
              </a:lnSpc>
              <a:buNone/>
            </a:pPr>
            <a:r>
              <a:rPr lang="en-US" sz="1050" dirty="0">
                <a:solidFill>
                  <a:srgbClr val="334155"/>
                </a:solidFill>
                <a:latin typeface="Arial" pitchFamily="34" charset="0"/>
                <a:ea typeface="Arial" pitchFamily="34" charset="-122"/>
                <a:cs typeface="Arial" pitchFamily="34" charset="-120"/>
              </a:rPr>
              <a:t>Receive direct updates, supply follow-up details, or ask questions inside your secure, two-way threaded chat.</a:t>
            </a:r>
            <a:endParaRPr lang="en-US" sz="1050" dirty="0"/>
          </a:p>
        </p:txBody>
      </p:sp>
      <p:sp>
        <p:nvSpPr>
          <p:cNvPr id="29" name="Text 27"/>
          <p:cNvSpPr/>
          <p:nvPr/>
        </p:nvSpPr>
        <p:spPr>
          <a:xfrm>
            <a:off x="731520" y="6400800"/>
            <a:ext cx="1069848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Samara Student Voices | Confidential &amp; Charter-Protected | Slide 6 of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10698480" cy="27432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SAMARA UNIVERSITY — STUDENT VOICE &amp; SAFETY NETWORK</a:t>
            </a:r>
            <a:endParaRPr lang="en-US" sz="1000" dirty="0"/>
          </a:p>
        </p:txBody>
      </p:sp>
      <p:sp>
        <p:nvSpPr>
          <p:cNvPr id="3" name="Text 1"/>
          <p:cNvSpPr/>
          <p:nvPr/>
        </p:nvSpPr>
        <p:spPr>
          <a:xfrm>
            <a:off x="731520" y="594360"/>
            <a:ext cx="1069848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Executive &amp; Admin Workflows: Triage, Privacy &amp; Verification</a:t>
            </a:r>
            <a:endParaRPr lang="en-US" sz="2200" dirty="0"/>
          </a:p>
        </p:txBody>
      </p:sp>
      <p:sp>
        <p:nvSpPr>
          <p:cNvPr id="4" name="Shape 2"/>
          <p:cNvSpPr/>
          <p:nvPr/>
        </p:nvSpPr>
        <p:spPr>
          <a:xfrm>
            <a:off x="731520" y="1188720"/>
            <a:ext cx="10698480" cy="0"/>
          </a:xfrm>
          <a:prstGeom prst="line">
            <a:avLst/>
          </a:prstGeom>
          <a:noFill/>
          <a:ln w="12700">
            <a:solidFill>
              <a:srgbClr val="CBD5E1"/>
            </a:solidFill>
            <a:prstDash val="solid"/>
          </a:ln>
        </p:spPr>
      </p:sp>
      <p:sp>
        <p:nvSpPr>
          <p:cNvPr id="5" name="Shape 3"/>
          <p:cNvSpPr/>
          <p:nvPr/>
        </p:nvSpPr>
        <p:spPr>
          <a:xfrm>
            <a:off x="731520" y="1463040"/>
            <a:ext cx="10698480" cy="2194560"/>
          </a:xfrm>
          <a:prstGeom prst="roundRect">
            <a:avLst>
              <a:gd name="adj" fmla="val 5000"/>
            </a:avLst>
          </a:prstGeom>
          <a:solidFill>
            <a:srgbClr val="FFFFFF"/>
          </a:solidFill>
          <a:ln w="15240">
            <a:solidFill>
              <a:srgbClr val="BFDBFE"/>
            </a:solidFill>
            <a:prstDash val="solid"/>
          </a:ln>
        </p:spPr>
      </p:sp>
      <p:sp>
        <p:nvSpPr>
          <p:cNvPr id="6" name="Text 4"/>
          <p:cNvSpPr/>
          <p:nvPr/>
        </p:nvSpPr>
        <p:spPr>
          <a:xfrm>
            <a:off x="1005840" y="1645920"/>
            <a:ext cx="10058400" cy="320040"/>
          </a:xfrm>
          <a:prstGeom prst="rect">
            <a:avLst/>
          </a:prstGeom>
          <a:noFill/>
          <a:ln/>
        </p:spPr>
        <p:txBody>
          <a:bodyPr wrap="square" rtlCol="0" anchor="ctr"/>
          <a:lstStyle/>
          <a:p>
            <a:pPr indent="0" marL="0">
              <a:buNone/>
            </a:pPr>
            <a:r>
              <a:rPr lang="en-US" sz="1400" b="1" dirty="0">
                <a:solidFill>
                  <a:srgbClr val="2563EB"/>
                </a:solidFill>
                <a:latin typeface="Arial" pitchFamily="34" charset="0"/>
                <a:ea typeface="Arial" pitchFamily="34" charset="-122"/>
                <a:cs typeface="Arial" pitchFamily="34" charset="-120"/>
              </a:rPr>
              <a:t>🛡️ Student Executive Council Workflow (Feedback Triage)</a:t>
            </a:r>
            <a:endParaRPr lang="en-US" sz="1400" dirty="0"/>
          </a:p>
        </p:txBody>
      </p:sp>
      <p:sp>
        <p:nvSpPr>
          <p:cNvPr id="7" name="Text 5"/>
          <p:cNvSpPr/>
          <p:nvPr/>
        </p:nvSpPr>
        <p:spPr>
          <a:xfrm>
            <a:off x="1005840" y="2057400"/>
            <a:ext cx="246888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 Filterable Inbox</a:t>
            </a:r>
            <a:endParaRPr lang="en-US" sz="1100" dirty="0"/>
          </a:p>
        </p:txBody>
      </p:sp>
      <p:sp>
        <p:nvSpPr>
          <p:cNvPr id="8" name="Text 6"/>
          <p:cNvSpPr/>
          <p:nvPr/>
        </p:nvSpPr>
        <p:spPr>
          <a:xfrm>
            <a:off x="1005840" y="2331720"/>
            <a:ext cx="2468880" cy="1097280"/>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Real-time counters for Pending, In Review, and Resolved community proposals.</a:t>
            </a:r>
            <a:endParaRPr lang="en-US" sz="950" dirty="0"/>
          </a:p>
        </p:txBody>
      </p:sp>
      <p:sp>
        <p:nvSpPr>
          <p:cNvPr id="9" name="Text 7"/>
          <p:cNvSpPr/>
          <p:nvPr/>
        </p:nvSpPr>
        <p:spPr>
          <a:xfrm>
            <a:off x="3611880" y="2057400"/>
            <a:ext cx="246888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2. Anonymous Shield</a:t>
            </a:r>
            <a:endParaRPr lang="en-US" sz="1100" dirty="0"/>
          </a:p>
        </p:txBody>
      </p:sp>
      <p:sp>
        <p:nvSpPr>
          <p:cNvPr id="10" name="Text 8"/>
          <p:cNvSpPr/>
          <p:nvPr/>
        </p:nvSpPr>
        <p:spPr>
          <a:xfrm>
            <a:off x="3611880" y="2331720"/>
            <a:ext cx="2468880" cy="1097280"/>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Identity of anonymous students is replaced with pseudonyms — impossible to unmask.</a:t>
            </a:r>
            <a:endParaRPr lang="en-US" sz="950" dirty="0"/>
          </a:p>
        </p:txBody>
      </p:sp>
      <p:sp>
        <p:nvSpPr>
          <p:cNvPr id="11" name="Text 9"/>
          <p:cNvSpPr/>
          <p:nvPr/>
        </p:nvSpPr>
        <p:spPr>
          <a:xfrm>
            <a:off x="6217920" y="2057400"/>
            <a:ext cx="246888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3. Status &amp; Notes</a:t>
            </a:r>
            <a:endParaRPr lang="en-US" sz="1100" dirty="0"/>
          </a:p>
        </p:txBody>
      </p:sp>
      <p:sp>
        <p:nvSpPr>
          <p:cNvPr id="12" name="Text 10"/>
          <p:cNvSpPr/>
          <p:nvPr/>
        </p:nvSpPr>
        <p:spPr>
          <a:xfrm>
            <a:off x="6217920" y="2331720"/>
            <a:ext cx="2468880" cy="1097280"/>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Advance issues to In Review; collaborate with council peers via internal notes.</a:t>
            </a:r>
            <a:endParaRPr lang="en-US" sz="950" dirty="0"/>
          </a:p>
        </p:txBody>
      </p:sp>
      <p:sp>
        <p:nvSpPr>
          <p:cNvPr id="13" name="Text 11"/>
          <p:cNvSpPr/>
          <p:nvPr/>
        </p:nvSpPr>
        <p:spPr>
          <a:xfrm>
            <a:off x="8823960" y="2057400"/>
            <a:ext cx="246888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4. Direct Reply</a:t>
            </a:r>
            <a:endParaRPr lang="en-US" sz="1100" dirty="0"/>
          </a:p>
        </p:txBody>
      </p:sp>
      <p:sp>
        <p:nvSpPr>
          <p:cNvPr id="14" name="Text 12"/>
          <p:cNvSpPr/>
          <p:nvPr/>
        </p:nvSpPr>
        <p:spPr>
          <a:xfrm>
            <a:off x="8823960" y="2331720"/>
            <a:ext cx="2468880" cy="1097280"/>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Send official executive resolutions directly back into the student's thread.</a:t>
            </a:r>
            <a:endParaRPr lang="en-US" sz="950" dirty="0"/>
          </a:p>
        </p:txBody>
      </p:sp>
      <p:sp>
        <p:nvSpPr>
          <p:cNvPr id="15" name="Shape 13"/>
          <p:cNvSpPr/>
          <p:nvPr/>
        </p:nvSpPr>
        <p:spPr>
          <a:xfrm>
            <a:off x="731520" y="3840480"/>
            <a:ext cx="10698480" cy="2194560"/>
          </a:xfrm>
          <a:prstGeom prst="roundRect">
            <a:avLst>
              <a:gd name="adj" fmla="val 5000"/>
            </a:avLst>
          </a:prstGeom>
          <a:solidFill>
            <a:srgbClr val="FFFFFF"/>
          </a:solidFill>
          <a:ln w="15240">
            <a:solidFill>
              <a:srgbClr val="CBD5E1"/>
            </a:solidFill>
            <a:prstDash val="solid"/>
          </a:ln>
        </p:spPr>
      </p:sp>
      <p:sp>
        <p:nvSpPr>
          <p:cNvPr id="16" name="Text 14"/>
          <p:cNvSpPr/>
          <p:nvPr/>
        </p:nvSpPr>
        <p:spPr>
          <a:xfrm>
            <a:off x="1005840" y="4023360"/>
            <a:ext cx="10058400" cy="320040"/>
          </a:xfrm>
          <a:prstGeom prst="rect">
            <a:avLst/>
          </a:prstGeom>
          <a:noFill/>
          <a:ln/>
        </p:spPr>
        <p:txBody>
          <a:bodyPr wrap="square" rtlCol="0" anchor="ctr"/>
          <a:lstStyle/>
          <a:p>
            <a:pPr indent="0" marL="0">
              <a:buNone/>
            </a:pPr>
            <a:r>
              <a:rPr lang="en-US" sz="1400" b="1" dirty="0">
                <a:solidFill>
                  <a:srgbClr val="0F172A"/>
                </a:solidFill>
                <a:latin typeface="Arial" pitchFamily="34" charset="0"/>
                <a:ea typeface="Arial" pitchFamily="34" charset="-122"/>
                <a:cs typeface="Arial" pitchFamily="34" charset="-120"/>
              </a:rPr>
              <a:t>⚖️ University Administrator Workflow (Gatekeeping &amp; Verification)</a:t>
            </a:r>
            <a:endParaRPr lang="en-US" sz="1400" dirty="0"/>
          </a:p>
        </p:txBody>
      </p:sp>
      <p:sp>
        <p:nvSpPr>
          <p:cNvPr id="17" name="Text 15"/>
          <p:cNvSpPr/>
          <p:nvPr/>
        </p:nvSpPr>
        <p:spPr>
          <a:xfrm>
            <a:off x="1005840" y="4434840"/>
            <a:ext cx="246888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 Roster Verification</a:t>
            </a:r>
            <a:endParaRPr lang="en-US" sz="1100" dirty="0"/>
          </a:p>
        </p:txBody>
      </p:sp>
      <p:sp>
        <p:nvSpPr>
          <p:cNvPr id="18" name="Text 16"/>
          <p:cNvSpPr/>
          <p:nvPr/>
        </p:nvSpPr>
        <p:spPr>
          <a:xfrm>
            <a:off x="1005840" y="4709160"/>
            <a:ext cx="2468880" cy="1097280"/>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Cross-check submitted student and executive emails with university registry.</a:t>
            </a:r>
            <a:endParaRPr lang="en-US" sz="950" dirty="0"/>
          </a:p>
        </p:txBody>
      </p:sp>
      <p:sp>
        <p:nvSpPr>
          <p:cNvPr id="19" name="Text 17"/>
          <p:cNvSpPr/>
          <p:nvPr/>
        </p:nvSpPr>
        <p:spPr>
          <a:xfrm>
            <a:off x="3611880" y="4434840"/>
            <a:ext cx="246888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2. One-Click Approval</a:t>
            </a:r>
            <a:endParaRPr lang="en-US" sz="1100" dirty="0"/>
          </a:p>
        </p:txBody>
      </p:sp>
      <p:sp>
        <p:nvSpPr>
          <p:cNvPr id="20" name="Text 18"/>
          <p:cNvSpPr/>
          <p:nvPr/>
        </p:nvSpPr>
        <p:spPr>
          <a:xfrm>
            <a:off x="3611880" y="4709160"/>
            <a:ext cx="2468880" cy="1097280"/>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Instantly approve genuine students; approve elected council representatives.</a:t>
            </a:r>
            <a:endParaRPr lang="en-US" sz="950" dirty="0"/>
          </a:p>
        </p:txBody>
      </p:sp>
      <p:sp>
        <p:nvSpPr>
          <p:cNvPr id="21" name="Text 19"/>
          <p:cNvSpPr/>
          <p:nvPr/>
        </p:nvSpPr>
        <p:spPr>
          <a:xfrm>
            <a:off x="6217920" y="4434840"/>
            <a:ext cx="246888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3. Bot &amp; Spam Rejection</a:t>
            </a:r>
            <a:endParaRPr lang="en-US" sz="1100" dirty="0"/>
          </a:p>
        </p:txBody>
      </p:sp>
      <p:sp>
        <p:nvSpPr>
          <p:cNvPr id="22" name="Text 20"/>
          <p:cNvSpPr/>
          <p:nvPr/>
        </p:nvSpPr>
        <p:spPr>
          <a:xfrm>
            <a:off x="6217920" y="4709160"/>
            <a:ext cx="2468880" cy="1097280"/>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Purge unauthorized registration attempts to maintain community integrity.</a:t>
            </a:r>
            <a:endParaRPr lang="en-US" sz="950" dirty="0"/>
          </a:p>
        </p:txBody>
      </p:sp>
      <p:sp>
        <p:nvSpPr>
          <p:cNvPr id="23" name="Text 21"/>
          <p:cNvSpPr/>
          <p:nvPr/>
        </p:nvSpPr>
        <p:spPr>
          <a:xfrm>
            <a:off x="8823960" y="4434840"/>
            <a:ext cx="2468880" cy="274320"/>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4. Zero-Message Barrier</a:t>
            </a:r>
            <a:endParaRPr lang="en-US" sz="1100" dirty="0"/>
          </a:p>
        </p:txBody>
      </p:sp>
      <p:sp>
        <p:nvSpPr>
          <p:cNvPr id="24" name="Text 22"/>
          <p:cNvSpPr/>
          <p:nvPr/>
        </p:nvSpPr>
        <p:spPr>
          <a:xfrm>
            <a:off x="8823960" y="4709160"/>
            <a:ext cx="2468880" cy="1097280"/>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Architecturally barred from viewing complaints, reports, or discussions.</a:t>
            </a:r>
            <a:endParaRPr lang="en-US" sz="950" dirty="0"/>
          </a:p>
        </p:txBody>
      </p:sp>
      <p:sp>
        <p:nvSpPr>
          <p:cNvPr id="25" name="Text 23"/>
          <p:cNvSpPr/>
          <p:nvPr/>
        </p:nvSpPr>
        <p:spPr>
          <a:xfrm>
            <a:off x="731520" y="6400800"/>
            <a:ext cx="1069848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Samara Student Voices | Confidential &amp; Charter-Protected | Slide 7 of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10698480" cy="27432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SAMARA UNIVERSITY — STUDENT VOICE &amp; SAFETY NETWORK</a:t>
            </a:r>
            <a:endParaRPr lang="en-US" sz="1000" dirty="0"/>
          </a:p>
        </p:txBody>
      </p:sp>
      <p:sp>
        <p:nvSpPr>
          <p:cNvPr id="3" name="Text 1"/>
          <p:cNvSpPr/>
          <p:nvPr/>
        </p:nvSpPr>
        <p:spPr>
          <a:xfrm>
            <a:off x="731520" y="594360"/>
            <a:ext cx="1069848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Super Administrator Master Oversight &amp; Incident Command</a:t>
            </a:r>
            <a:endParaRPr lang="en-US" sz="2200" dirty="0"/>
          </a:p>
        </p:txBody>
      </p:sp>
      <p:sp>
        <p:nvSpPr>
          <p:cNvPr id="4" name="Shape 2"/>
          <p:cNvSpPr/>
          <p:nvPr/>
        </p:nvSpPr>
        <p:spPr>
          <a:xfrm>
            <a:off x="731520" y="1188720"/>
            <a:ext cx="10698480" cy="0"/>
          </a:xfrm>
          <a:prstGeom prst="line">
            <a:avLst/>
          </a:prstGeom>
          <a:noFill/>
          <a:ln w="12700">
            <a:solidFill>
              <a:srgbClr val="CBD5E1"/>
            </a:solidFill>
            <a:prstDash val="solid"/>
          </a:ln>
        </p:spPr>
      </p:sp>
      <p:sp>
        <p:nvSpPr>
          <p:cNvPr id="5" name="Shape 3"/>
          <p:cNvSpPr/>
          <p:nvPr/>
        </p:nvSpPr>
        <p:spPr>
          <a:xfrm>
            <a:off x="731520" y="1463040"/>
            <a:ext cx="5212080" cy="2103120"/>
          </a:xfrm>
          <a:prstGeom prst="roundRect">
            <a:avLst>
              <a:gd name="adj" fmla="val 5217"/>
            </a:avLst>
          </a:prstGeom>
          <a:solidFill>
            <a:srgbClr val="FFFFFF"/>
          </a:solidFill>
          <a:ln w="15240">
            <a:solidFill>
              <a:srgbClr val="CBD5E1"/>
            </a:solidFill>
            <a:prstDash val="solid"/>
          </a:ln>
        </p:spPr>
      </p:sp>
      <p:sp>
        <p:nvSpPr>
          <p:cNvPr id="6" name="Text 4"/>
          <p:cNvSpPr/>
          <p:nvPr/>
        </p:nvSpPr>
        <p:spPr>
          <a:xfrm>
            <a:off x="1005840" y="1691640"/>
            <a:ext cx="4572000" cy="228600"/>
          </a:xfrm>
          <a:prstGeom prst="rect">
            <a:avLst/>
          </a:prstGeom>
          <a:noFill/>
          <a:ln/>
        </p:spPr>
        <p:txBody>
          <a:bodyPr wrap="square" rtlCol="0" anchor="ctr"/>
          <a:lstStyle/>
          <a:p>
            <a:pPr indent="0" marL="0">
              <a:buNone/>
            </a:pPr>
            <a:r>
              <a:rPr lang="en-US" sz="850" b="1" dirty="0">
                <a:solidFill>
                  <a:srgbClr val="E11D48"/>
                </a:solidFill>
                <a:latin typeface="Arial" pitchFamily="34" charset="0"/>
                <a:ea typeface="Arial" pitchFamily="34" charset="-122"/>
                <a:cs typeface="Arial" pitchFamily="34" charset="-120"/>
              </a:rPr>
              <a:t>CONFIDENTIAL JURISDICTION</a:t>
            </a:r>
            <a:endParaRPr lang="en-US" sz="850" dirty="0"/>
          </a:p>
        </p:txBody>
      </p:sp>
      <p:sp>
        <p:nvSpPr>
          <p:cNvPr id="7" name="Text 5"/>
          <p:cNvSpPr/>
          <p:nvPr/>
        </p:nvSpPr>
        <p:spPr>
          <a:xfrm>
            <a:off x="1005840" y="1920240"/>
            <a:ext cx="4663440" cy="36576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 Harassment Incident Command</a:t>
            </a:r>
            <a:endParaRPr lang="en-US" sz="1300" dirty="0"/>
          </a:p>
        </p:txBody>
      </p:sp>
      <p:sp>
        <p:nvSpPr>
          <p:cNvPr id="8" name="Text 6"/>
          <p:cNvSpPr/>
          <p:nvPr/>
        </p:nvSpPr>
        <p:spPr>
          <a:xfrm>
            <a:off x="1005840" y="2331720"/>
            <a:ext cx="4663440" cy="1005840"/>
          </a:xfrm>
          <a:prstGeom prst="rect">
            <a:avLst/>
          </a:prstGeom>
          <a:noFill/>
          <a:ln/>
        </p:spPr>
        <p:txBody>
          <a:bodyPr wrap="square" rtlCol="0" anchor="ctr"/>
          <a:lstStyle/>
          <a:p>
            <a:pPr indent="0" marL="0">
              <a:lnSpc>
                <a:spcPts val="1500"/>
              </a:lnSpc>
              <a:buNone/>
            </a:pPr>
            <a:r>
              <a:rPr lang="en-US" sz="1000" dirty="0">
                <a:solidFill>
                  <a:srgbClr val="334155"/>
                </a:solidFill>
                <a:latin typeface="Arial" pitchFamily="34" charset="0"/>
                <a:ea typeface="Arial" pitchFamily="34" charset="-122"/>
                <a:cs typeface="Arial" pitchFamily="34" charset="-120"/>
              </a:rPr>
              <a:t>Exclusive, private workspace for the Dean of Student Affairs. View complete testimony, timeline, and forensic metadata with zero leakage to peer students or council executives.</a:t>
            </a:r>
            <a:endParaRPr lang="en-US" sz="1000" dirty="0"/>
          </a:p>
        </p:txBody>
      </p:sp>
      <p:sp>
        <p:nvSpPr>
          <p:cNvPr id="9" name="Shape 7"/>
          <p:cNvSpPr/>
          <p:nvPr/>
        </p:nvSpPr>
        <p:spPr>
          <a:xfrm>
            <a:off x="6217920" y="1463040"/>
            <a:ext cx="5212080" cy="2103120"/>
          </a:xfrm>
          <a:prstGeom prst="roundRect">
            <a:avLst>
              <a:gd name="adj" fmla="val 5217"/>
            </a:avLst>
          </a:prstGeom>
          <a:solidFill>
            <a:srgbClr val="FFFFFF"/>
          </a:solidFill>
          <a:ln w="15240">
            <a:solidFill>
              <a:srgbClr val="CBD5E1"/>
            </a:solidFill>
            <a:prstDash val="solid"/>
          </a:ln>
        </p:spPr>
      </p:sp>
      <p:sp>
        <p:nvSpPr>
          <p:cNvPr id="10" name="Text 8"/>
          <p:cNvSpPr/>
          <p:nvPr/>
        </p:nvSpPr>
        <p:spPr>
          <a:xfrm>
            <a:off x="6492240" y="1691640"/>
            <a:ext cx="4572000" cy="228600"/>
          </a:xfrm>
          <a:prstGeom prst="rect">
            <a:avLst/>
          </a:prstGeom>
          <a:noFill/>
          <a:ln/>
        </p:spPr>
        <p:txBody>
          <a:bodyPr wrap="square" rtlCol="0" anchor="ctr"/>
          <a:lstStyle/>
          <a:p>
            <a:pPr indent="0" marL="0">
              <a:buNone/>
            </a:pPr>
            <a:r>
              <a:rPr lang="en-US" sz="850" b="1" dirty="0">
                <a:solidFill>
                  <a:srgbClr val="2563EB"/>
                </a:solidFill>
                <a:latin typeface="Arial" pitchFamily="34" charset="0"/>
                <a:ea typeface="Arial" pitchFamily="34" charset="-122"/>
                <a:cs typeface="Arial" pitchFamily="34" charset="-120"/>
              </a:rPr>
              <a:t>EVIDENCE READY</a:t>
            </a:r>
            <a:endParaRPr lang="en-US" sz="850" dirty="0"/>
          </a:p>
        </p:txBody>
      </p:sp>
      <p:sp>
        <p:nvSpPr>
          <p:cNvPr id="11" name="Text 9"/>
          <p:cNvSpPr/>
          <p:nvPr/>
        </p:nvSpPr>
        <p:spPr>
          <a:xfrm>
            <a:off x="6492240" y="1920240"/>
            <a:ext cx="4663440" cy="36576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 Exportable Legal Dossier (.docx)</a:t>
            </a:r>
            <a:endParaRPr lang="en-US" sz="1300" dirty="0"/>
          </a:p>
        </p:txBody>
      </p:sp>
      <p:sp>
        <p:nvSpPr>
          <p:cNvPr id="12" name="Text 10"/>
          <p:cNvSpPr/>
          <p:nvPr/>
        </p:nvSpPr>
        <p:spPr>
          <a:xfrm>
            <a:off x="6492240" y="2331720"/>
            <a:ext cx="4663440" cy="1005840"/>
          </a:xfrm>
          <a:prstGeom prst="rect">
            <a:avLst/>
          </a:prstGeom>
          <a:noFill/>
          <a:ln/>
        </p:spPr>
        <p:txBody>
          <a:bodyPr wrap="square" rtlCol="0" anchor="ctr"/>
          <a:lstStyle/>
          <a:p>
            <a:pPr indent="0" marL="0">
              <a:lnSpc>
                <a:spcPts val="1500"/>
              </a:lnSpc>
              <a:buNone/>
            </a:pPr>
            <a:r>
              <a:rPr lang="en-US" sz="1000" dirty="0">
                <a:solidFill>
                  <a:srgbClr val="334155"/>
                </a:solidFill>
                <a:latin typeface="Arial" pitchFamily="34" charset="0"/>
                <a:ea typeface="Arial" pitchFamily="34" charset="-122"/>
                <a:cs typeface="Arial" pitchFamily="34" charset="-120"/>
              </a:rPr>
              <a:t>Generate rich, formal Microsoft Word case dossiers at the touch of a button. Formatted specifically for university disciplinary committees, police investigations, or legal tribunals.</a:t>
            </a:r>
            <a:endParaRPr lang="en-US" sz="1000" dirty="0"/>
          </a:p>
        </p:txBody>
      </p:sp>
      <p:sp>
        <p:nvSpPr>
          <p:cNvPr id="13" name="Shape 11"/>
          <p:cNvSpPr/>
          <p:nvPr/>
        </p:nvSpPr>
        <p:spPr>
          <a:xfrm>
            <a:off x="731520" y="3749040"/>
            <a:ext cx="5212080" cy="2103120"/>
          </a:xfrm>
          <a:prstGeom prst="roundRect">
            <a:avLst>
              <a:gd name="adj" fmla="val 5217"/>
            </a:avLst>
          </a:prstGeom>
          <a:solidFill>
            <a:srgbClr val="FFFFFF"/>
          </a:solidFill>
          <a:ln w="15240">
            <a:solidFill>
              <a:srgbClr val="CBD5E1"/>
            </a:solidFill>
            <a:prstDash val="solid"/>
          </a:ln>
        </p:spPr>
      </p:sp>
      <p:sp>
        <p:nvSpPr>
          <p:cNvPr id="14" name="Text 12"/>
          <p:cNvSpPr/>
          <p:nvPr/>
        </p:nvSpPr>
        <p:spPr>
          <a:xfrm>
            <a:off x="1005840" y="3977640"/>
            <a:ext cx="4572000" cy="228600"/>
          </a:xfrm>
          <a:prstGeom prst="rect">
            <a:avLst/>
          </a:prstGeom>
          <a:noFill/>
          <a:ln/>
        </p:spPr>
        <p:txBody>
          <a:bodyPr wrap="square" rtlCol="0" anchor="ctr"/>
          <a:lstStyle/>
          <a:p>
            <a:pPr indent="0" marL="0">
              <a:buNone/>
            </a:pPr>
            <a:r>
              <a:rPr lang="en-US" sz="850" b="1" dirty="0">
                <a:solidFill>
                  <a:srgbClr val="059669"/>
                </a:solidFill>
                <a:latin typeface="Arial" pitchFamily="34" charset="0"/>
                <a:ea typeface="Arial" pitchFamily="34" charset="-122"/>
                <a:cs typeface="Arial" pitchFamily="34" charset="-120"/>
              </a:rPr>
              <a:t>DYNAMIC DISPATCH</a:t>
            </a:r>
            <a:endParaRPr lang="en-US" sz="850" dirty="0"/>
          </a:p>
        </p:txBody>
      </p:sp>
      <p:sp>
        <p:nvSpPr>
          <p:cNvPr id="15" name="Text 13"/>
          <p:cNvSpPr/>
          <p:nvPr/>
        </p:nvSpPr>
        <p:spPr>
          <a:xfrm>
            <a:off x="1005840" y="4206240"/>
            <a:ext cx="4663440" cy="36576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 Live Safety Hotline Dispatcher</a:t>
            </a:r>
            <a:endParaRPr lang="en-US" sz="1300" dirty="0"/>
          </a:p>
        </p:txBody>
      </p:sp>
      <p:sp>
        <p:nvSpPr>
          <p:cNvPr id="16" name="Text 14"/>
          <p:cNvSpPr/>
          <p:nvPr/>
        </p:nvSpPr>
        <p:spPr>
          <a:xfrm>
            <a:off x="1005840" y="4617720"/>
            <a:ext cx="4663440" cy="1005840"/>
          </a:xfrm>
          <a:prstGeom prst="rect">
            <a:avLst/>
          </a:prstGeom>
          <a:noFill/>
          <a:ln/>
        </p:spPr>
        <p:txBody>
          <a:bodyPr wrap="square" rtlCol="0" anchor="ctr"/>
          <a:lstStyle/>
          <a:p>
            <a:pPr indent="0" marL="0">
              <a:lnSpc>
                <a:spcPts val="1500"/>
              </a:lnSpc>
              <a:buNone/>
            </a:pPr>
            <a:r>
              <a:rPr lang="en-US" sz="1000" dirty="0">
                <a:solidFill>
                  <a:srgbClr val="334155"/>
                </a:solidFill>
                <a:latin typeface="Arial" pitchFamily="34" charset="0"/>
                <a:ea typeface="Arial" pitchFamily="34" charset="-122"/>
                <a:cs typeface="Arial" pitchFamily="34" charset="-120"/>
              </a:rPr>
              <a:t>Centrally edit campus emergency contacts and crisis numbers in real time. Changes synchronize instantly across the guest landing page and the global student SOS modal.</a:t>
            </a:r>
            <a:endParaRPr lang="en-US" sz="1000" dirty="0"/>
          </a:p>
        </p:txBody>
      </p:sp>
      <p:sp>
        <p:nvSpPr>
          <p:cNvPr id="17" name="Shape 15"/>
          <p:cNvSpPr/>
          <p:nvPr/>
        </p:nvSpPr>
        <p:spPr>
          <a:xfrm>
            <a:off x="6217920" y="3749040"/>
            <a:ext cx="5212080" cy="2103120"/>
          </a:xfrm>
          <a:prstGeom prst="roundRect">
            <a:avLst>
              <a:gd name="adj" fmla="val 5217"/>
            </a:avLst>
          </a:prstGeom>
          <a:solidFill>
            <a:srgbClr val="FFFFFF"/>
          </a:solidFill>
          <a:ln w="15240">
            <a:solidFill>
              <a:srgbClr val="CBD5E1"/>
            </a:solidFill>
            <a:prstDash val="solid"/>
          </a:ln>
        </p:spPr>
      </p:sp>
      <p:sp>
        <p:nvSpPr>
          <p:cNvPr id="18" name="Text 16"/>
          <p:cNvSpPr/>
          <p:nvPr/>
        </p:nvSpPr>
        <p:spPr>
          <a:xfrm>
            <a:off x="6492240" y="3977640"/>
            <a:ext cx="4572000" cy="228600"/>
          </a:xfrm>
          <a:prstGeom prst="rect">
            <a:avLst/>
          </a:prstGeom>
          <a:noFill/>
          <a:ln/>
        </p:spPr>
        <p:txBody>
          <a:bodyPr wrap="square" rtlCol="0" anchor="ctr"/>
          <a:lstStyle/>
          <a:p>
            <a:pPr indent="0" marL="0">
              <a:buNone/>
            </a:pPr>
            <a:r>
              <a:rPr lang="en-US" sz="850" b="1" dirty="0">
                <a:solidFill>
                  <a:srgbClr val="D97706"/>
                </a:solidFill>
                <a:latin typeface="Arial" pitchFamily="34" charset="0"/>
                <a:ea typeface="Arial" pitchFamily="34" charset="-122"/>
                <a:cs typeface="Arial" pitchFamily="34" charset="-120"/>
              </a:rPr>
              <a:t>ACCOUNTABILITY SHIELD</a:t>
            </a:r>
            <a:endParaRPr lang="en-US" sz="850" dirty="0"/>
          </a:p>
        </p:txBody>
      </p:sp>
      <p:sp>
        <p:nvSpPr>
          <p:cNvPr id="19" name="Text 17"/>
          <p:cNvSpPr/>
          <p:nvPr/>
        </p:nvSpPr>
        <p:spPr>
          <a:xfrm>
            <a:off x="6492240" y="4206240"/>
            <a:ext cx="4663440" cy="365760"/>
          </a:xfrm>
          <a:prstGeom prst="rect">
            <a:avLst/>
          </a:prstGeom>
          <a:noFill/>
          <a:ln/>
        </p:spPr>
        <p:txBody>
          <a:bodyPr wrap="square" rtlCol="0" anchor="ctr"/>
          <a:lstStyle/>
          <a:p>
            <a:pPr indent="0" marL="0">
              <a:buNone/>
            </a:pPr>
            <a:r>
              <a:rPr lang="en-US" sz="1300" b="1" dirty="0">
                <a:solidFill>
                  <a:srgbClr val="0F172A"/>
                </a:solidFill>
                <a:latin typeface="Arial" pitchFamily="34" charset="0"/>
                <a:ea typeface="Arial" pitchFamily="34" charset="-122"/>
                <a:cs typeface="Arial" pitchFamily="34" charset="-120"/>
              </a:rPr>
              <a:t>🔍 Compliance &amp; User Directory</a:t>
            </a:r>
            <a:endParaRPr lang="en-US" sz="1300" dirty="0"/>
          </a:p>
        </p:txBody>
      </p:sp>
      <p:sp>
        <p:nvSpPr>
          <p:cNvPr id="20" name="Text 18"/>
          <p:cNvSpPr/>
          <p:nvPr/>
        </p:nvSpPr>
        <p:spPr>
          <a:xfrm>
            <a:off x="6492240" y="4617720"/>
            <a:ext cx="4663440" cy="1005840"/>
          </a:xfrm>
          <a:prstGeom prst="rect">
            <a:avLst/>
          </a:prstGeom>
          <a:noFill/>
          <a:ln/>
        </p:spPr>
        <p:txBody>
          <a:bodyPr wrap="square" rtlCol="0" anchor="ctr"/>
          <a:lstStyle/>
          <a:p>
            <a:pPr indent="0" marL="0">
              <a:lnSpc>
                <a:spcPts val="1500"/>
              </a:lnSpc>
              <a:buNone/>
            </a:pPr>
            <a:r>
              <a:rPr lang="en-US" sz="1000" dirty="0">
                <a:solidFill>
                  <a:srgbClr val="334155"/>
                </a:solidFill>
                <a:latin typeface="Arial" pitchFamily="34" charset="0"/>
                <a:ea typeface="Arial" pitchFamily="34" charset="-122"/>
                <a:cs typeface="Arial" pitchFamily="34" charset="-120"/>
              </a:rPr>
              <a:t>Master directory of all registered accounts. Inspect consent telemetry, review security check-ins, promote leadership roles, and review tamper-resistant compliance logs.</a:t>
            </a:r>
            <a:endParaRPr lang="en-US" sz="1000" dirty="0"/>
          </a:p>
        </p:txBody>
      </p:sp>
      <p:sp>
        <p:nvSpPr>
          <p:cNvPr id="21" name="Text 19"/>
          <p:cNvSpPr/>
          <p:nvPr/>
        </p:nvSpPr>
        <p:spPr>
          <a:xfrm>
            <a:off x="731520" y="6400800"/>
            <a:ext cx="1069848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Samara Student Voices | Confidential &amp; Charter-Protected | Slide 8 of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10698480" cy="27432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SAMARA UNIVERSITY — STUDENT VOICE &amp; SAFETY NETWORK</a:t>
            </a:r>
            <a:endParaRPr lang="en-US" sz="1000" dirty="0"/>
          </a:p>
        </p:txBody>
      </p:sp>
      <p:sp>
        <p:nvSpPr>
          <p:cNvPr id="3" name="Text 1"/>
          <p:cNvSpPr/>
          <p:nvPr/>
        </p:nvSpPr>
        <p:spPr>
          <a:xfrm>
            <a:off x="731520" y="594360"/>
            <a:ext cx="1069848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Is It Safe? Defensive Privacy &amp; Security Architecture</a:t>
            </a:r>
            <a:endParaRPr lang="en-US" sz="2200" dirty="0"/>
          </a:p>
        </p:txBody>
      </p:sp>
      <p:sp>
        <p:nvSpPr>
          <p:cNvPr id="4" name="Shape 2"/>
          <p:cNvSpPr/>
          <p:nvPr/>
        </p:nvSpPr>
        <p:spPr>
          <a:xfrm>
            <a:off x="731520" y="1188720"/>
            <a:ext cx="10698480" cy="0"/>
          </a:xfrm>
          <a:prstGeom prst="line">
            <a:avLst/>
          </a:prstGeom>
          <a:noFill/>
          <a:ln w="12700">
            <a:solidFill>
              <a:srgbClr val="CBD5E1"/>
            </a:solidFill>
            <a:prstDash val="solid"/>
          </a:ln>
        </p:spPr>
      </p:sp>
      <p:sp>
        <p:nvSpPr>
          <p:cNvPr id="5" name="Shape 3"/>
          <p:cNvSpPr/>
          <p:nvPr/>
        </p:nvSpPr>
        <p:spPr>
          <a:xfrm>
            <a:off x="731520" y="1463040"/>
            <a:ext cx="5212080" cy="2103120"/>
          </a:xfrm>
          <a:prstGeom prst="roundRect">
            <a:avLst>
              <a:gd name="adj" fmla="val 5217"/>
            </a:avLst>
          </a:prstGeom>
          <a:solidFill>
            <a:srgbClr val="FFFFFF"/>
          </a:solidFill>
          <a:ln w="15240">
            <a:solidFill>
              <a:srgbClr val="BFDBFE"/>
            </a:solidFill>
            <a:prstDash val="solid"/>
          </a:ln>
        </p:spPr>
      </p:sp>
      <p:sp>
        <p:nvSpPr>
          <p:cNvPr id="6" name="Text 4"/>
          <p:cNvSpPr/>
          <p:nvPr/>
        </p:nvSpPr>
        <p:spPr>
          <a:xfrm>
            <a:off x="1005840" y="1691640"/>
            <a:ext cx="4663440" cy="320040"/>
          </a:xfrm>
          <a:prstGeom prst="rect">
            <a:avLst/>
          </a:prstGeom>
          <a:noFill/>
          <a:ln/>
        </p:spPr>
        <p:txBody>
          <a:bodyPr wrap="square" rtlCol="0" anchor="ctr"/>
          <a:lstStyle/>
          <a:p>
            <a:pPr indent="0" marL="0">
              <a:buNone/>
            </a:pPr>
            <a:r>
              <a:rPr lang="en-US" sz="1250" b="1" dirty="0">
                <a:solidFill>
                  <a:srgbClr val="0F172A"/>
                </a:solidFill>
                <a:latin typeface="Arial" pitchFamily="34" charset="0"/>
                <a:ea typeface="Arial" pitchFamily="34" charset="-122"/>
                <a:cs typeface="Arial" pitchFamily="34" charset="-120"/>
              </a:rPr>
              <a:t>🛡️  Database-Level Identity Stripping</a:t>
            </a:r>
            <a:endParaRPr lang="en-US" sz="1250" dirty="0"/>
          </a:p>
        </p:txBody>
      </p:sp>
      <p:sp>
        <p:nvSpPr>
          <p:cNvPr id="7" name="Text 5"/>
          <p:cNvSpPr/>
          <p:nvPr/>
        </p:nvSpPr>
        <p:spPr>
          <a:xfrm>
            <a:off x="1005840" y="2057400"/>
            <a:ext cx="4663440" cy="438912"/>
          </a:xfrm>
          <a:prstGeom prst="rect">
            <a:avLst/>
          </a:prstGeom>
          <a:noFill/>
          <a:ln/>
        </p:spPr>
        <p:txBody>
          <a:bodyPr wrap="square" rtlCol="0" anchor="ctr"/>
          <a:lstStyle/>
          <a:p>
            <a:pPr indent="0" marL="0">
              <a:buNone/>
            </a:pPr>
            <a:r>
              <a:rPr lang="en-US" sz="900" dirty="0">
                <a:solidFill>
                  <a:srgbClr val="334155"/>
                </a:solidFill>
                <a:latin typeface="Arial" pitchFamily="34" charset="0"/>
                <a:ea typeface="Arial" pitchFamily="34" charset="-122"/>
                <a:cs typeface="Arial" pitchFamily="34" charset="-120"/>
              </a:rPr>
              <a:t>• When "Submit Anonymously" is selected, the database query layer explicitly strips name, email, and user account UUID.</a:t>
            </a:r>
            <a:endParaRPr lang="en-US" sz="900" dirty="0"/>
          </a:p>
        </p:txBody>
      </p:sp>
      <p:sp>
        <p:nvSpPr>
          <p:cNvPr id="8" name="Text 6"/>
          <p:cNvSpPr/>
          <p:nvPr/>
        </p:nvSpPr>
        <p:spPr>
          <a:xfrm>
            <a:off x="1005840" y="2514600"/>
            <a:ext cx="4663440" cy="438912"/>
          </a:xfrm>
          <a:prstGeom prst="rect">
            <a:avLst/>
          </a:prstGeom>
          <a:noFill/>
          <a:ln/>
        </p:spPr>
        <p:txBody>
          <a:bodyPr wrap="square" rtlCol="0" anchor="ctr"/>
          <a:lstStyle/>
          <a:p>
            <a:pPr indent="0" marL="0">
              <a:buNone/>
            </a:pPr>
            <a:r>
              <a:rPr lang="en-US" sz="900" dirty="0">
                <a:solidFill>
                  <a:srgbClr val="334155"/>
                </a:solidFill>
                <a:latin typeface="Arial" pitchFamily="34" charset="0"/>
                <a:ea typeface="Arial" pitchFamily="34" charset="-122"/>
                <a:cs typeface="Arial" pitchFamily="34" charset="-120"/>
              </a:rPr>
              <a:t>• Executives receive ONLY the sanitized text, category, and an anonymous hash.</a:t>
            </a:r>
            <a:endParaRPr lang="en-US" sz="900" dirty="0"/>
          </a:p>
        </p:txBody>
      </p:sp>
      <p:sp>
        <p:nvSpPr>
          <p:cNvPr id="9" name="Text 7"/>
          <p:cNvSpPr/>
          <p:nvPr/>
        </p:nvSpPr>
        <p:spPr>
          <a:xfrm>
            <a:off x="1005840" y="2971800"/>
            <a:ext cx="4663440" cy="438912"/>
          </a:xfrm>
          <a:prstGeom prst="rect">
            <a:avLst/>
          </a:prstGeom>
          <a:noFill/>
          <a:ln/>
        </p:spPr>
        <p:txBody>
          <a:bodyPr wrap="square" rtlCol="0" anchor="ctr"/>
          <a:lstStyle/>
          <a:p>
            <a:pPr indent="0" marL="0">
              <a:buNone/>
            </a:pPr>
            <a:r>
              <a:rPr lang="en-US" sz="900" dirty="0">
                <a:solidFill>
                  <a:srgbClr val="334155"/>
                </a:solidFill>
                <a:latin typeface="Arial" pitchFamily="34" charset="0"/>
                <a:ea typeface="Arial" pitchFamily="34" charset="-122"/>
                <a:cs typeface="Arial" pitchFamily="34" charset="-120"/>
              </a:rPr>
              <a:t>• Impossible for peers to trace back even with technical database inspection.</a:t>
            </a:r>
            <a:endParaRPr lang="en-US" sz="900" dirty="0"/>
          </a:p>
        </p:txBody>
      </p:sp>
      <p:sp>
        <p:nvSpPr>
          <p:cNvPr id="10" name="Shape 8"/>
          <p:cNvSpPr/>
          <p:nvPr/>
        </p:nvSpPr>
        <p:spPr>
          <a:xfrm>
            <a:off x="6217920" y="1463040"/>
            <a:ext cx="5212080" cy="2103120"/>
          </a:xfrm>
          <a:prstGeom prst="roundRect">
            <a:avLst>
              <a:gd name="adj" fmla="val 5217"/>
            </a:avLst>
          </a:prstGeom>
          <a:solidFill>
            <a:srgbClr val="FFFFFF"/>
          </a:solidFill>
          <a:ln w="15240">
            <a:solidFill>
              <a:srgbClr val="BFDBFE"/>
            </a:solidFill>
            <a:prstDash val="solid"/>
          </a:ln>
        </p:spPr>
      </p:sp>
      <p:sp>
        <p:nvSpPr>
          <p:cNvPr id="11" name="Text 9"/>
          <p:cNvSpPr/>
          <p:nvPr/>
        </p:nvSpPr>
        <p:spPr>
          <a:xfrm>
            <a:off x="6492240" y="1691640"/>
            <a:ext cx="4663440" cy="320040"/>
          </a:xfrm>
          <a:prstGeom prst="rect">
            <a:avLst/>
          </a:prstGeom>
          <a:noFill/>
          <a:ln/>
        </p:spPr>
        <p:txBody>
          <a:bodyPr wrap="square" rtlCol="0" anchor="ctr"/>
          <a:lstStyle/>
          <a:p>
            <a:pPr indent="0" marL="0">
              <a:buNone/>
            </a:pPr>
            <a:r>
              <a:rPr lang="en-US" sz="1250" b="1" dirty="0">
                <a:solidFill>
                  <a:srgbClr val="0F172A"/>
                </a:solidFill>
                <a:latin typeface="Arial" pitchFamily="34" charset="0"/>
                <a:ea typeface="Arial" pitchFamily="34" charset="-122"/>
                <a:cs typeface="Arial" pitchFamily="34" charset="-120"/>
              </a:rPr>
              <a:t>🚫  Air-Gapped Harassment Routing</a:t>
            </a:r>
            <a:endParaRPr lang="en-US" sz="1250" dirty="0"/>
          </a:p>
        </p:txBody>
      </p:sp>
      <p:sp>
        <p:nvSpPr>
          <p:cNvPr id="12" name="Text 10"/>
          <p:cNvSpPr/>
          <p:nvPr/>
        </p:nvSpPr>
        <p:spPr>
          <a:xfrm>
            <a:off x="6492240" y="2057400"/>
            <a:ext cx="4663440" cy="438912"/>
          </a:xfrm>
          <a:prstGeom prst="rect">
            <a:avLst/>
          </a:prstGeom>
          <a:noFill/>
          <a:ln/>
        </p:spPr>
        <p:txBody>
          <a:bodyPr wrap="square" rtlCol="0" anchor="ctr"/>
          <a:lstStyle/>
          <a:p>
            <a:pPr indent="0" marL="0">
              <a:buNone/>
            </a:pPr>
            <a:r>
              <a:rPr lang="en-US" sz="900" dirty="0">
                <a:solidFill>
                  <a:srgbClr val="334155"/>
                </a:solidFill>
                <a:latin typeface="Arial" pitchFamily="34" charset="0"/>
                <a:ea typeface="Arial" pitchFamily="34" charset="-122"/>
                <a:cs typeface="Arial" pitchFamily="34" charset="-120"/>
              </a:rPr>
              <a:t>• Harassment cases are excluded by code (`ne(messages.type, "harassment")`) from executive API endpoints.</a:t>
            </a:r>
            <a:endParaRPr lang="en-US" sz="900" dirty="0"/>
          </a:p>
        </p:txBody>
      </p:sp>
      <p:sp>
        <p:nvSpPr>
          <p:cNvPr id="13" name="Text 11"/>
          <p:cNvSpPr/>
          <p:nvPr/>
        </p:nvSpPr>
        <p:spPr>
          <a:xfrm>
            <a:off x="6492240" y="2514600"/>
            <a:ext cx="4663440" cy="438912"/>
          </a:xfrm>
          <a:prstGeom prst="rect">
            <a:avLst/>
          </a:prstGeom>
          <a:noFill/>
          <a:ln/>
        </p:spPr>
        <p:txBody>
          <a:bodyPr wrap="square" rtlCol="0" anchor="ctr"/>
          <a:lstStyle/>
          <a:p>
            <a:pPr indent="0" marL="0">
              <a:buNone/>
            </a:pPr>
            <a:r>
              <a:rPr lang="en-US" sz="900" dirty="0">
                <a:solidFill>
                  <a:srgbClr val="334155"/>
                </a:solidFill>
                <a:latin typeface="Arial" pitchFamily="34" charset="0"/>
                <a:ea typeface="Arial" pitchFamily="34" charset="-122"/>
                <a:cs typeface="Arial" pitchFamily="34" charset="-120"/>
              </a:rPr>
              <a:t>• Real-time notifications for harassment bypass peer channels completely.</a:t>
            </a:r>
            <a:endParaRPr lang="en-US" sz="900" dirty="0"/>
          </a:p>
        </p:txBody>
      </p:sp>
      <p:sp>
        <p:nvSpPr>
          <p:cNvPr id="14" name="Text 12"/>
          <p:cNvSpPr/>
          <p:nvPr/>
        </p:nvSpPr>
        <p:spPr>
          <a:xfrm>
            <a:off x="6492240" y="2971800"/>
            <a:ext cx="4663440" cy="438912"/>
          </a:xfrm>
          <a:prstGeom prst="rect">
            <a:avLst/>
          </a:prstGeom>
          <a:noFill/>
          <a:ln/>
        </p:spPr>
        <p:txBody>
          <a:bodyPr wrap="square" rtlCol="0" anchor="ctr"/>
          <a:lstStyle/>
          <a:p>
            <a:pPr indent="0" marL="0">
              <a:buNone/>
            </a:pPr>
            <a:r>
              <a:rPr lang="en-US" sz="900" dirty="0">
                <a:solidFill>
                  <a:srgbClr val="334155"/>
                </a:solidFill>
                <a:latin typeface="Arial" pitchFamily="34" charset="0"/>
                <a:ea typeface="Arial" pitchFamily="34" charset="-122"/>
                <a:cs typeface="Arial" pitchFamily="34" charset="-120"/>
              </a:rPr>
              <a:t>• Zero gossip, zero leaks, zero campus peer compromise.</a:t>
            </a:r>
            <a:endParaRPr lang="en-US" sz="900" dirty="0"/>
          </a:p>
        </p:txBody>
      </p:sp>
      <p:sp>
        <p:nvSpPr>
          <p:cNvPr id="15" name="Shape 13"/>
          <p:cNvSpPr/>
          <p:nvPr/>
        </p:nvSpPr>
        <p:spPr>
          <a:xfrm>
            <a:off x="731520" y="3749040"/>
            <a:ext cx="5212080" cy="2103120"/>
          </a:xfrm>
          <a:prstGeom prst="roundRect">
            <a:avLst>
              <a:gd name="adj" fmla="val 5217"/>
            </a:avLst>
          </a:prstGeom>
          <a:solidFill>
            <a:srgbClr val="FFFFFF"/>
          </a:solidFill>
          <a:ln w="15240">
            <a:solidFill>
              <a:srgbClr val="BFDBFE"/>
            </a:solidFill>
            <a:prstDash val="solid"/>
          </a:ln>
        </p:spPr>
      </p:sp>
      <p:sp>
        <p:nvSpPr>
          <p:cNvPr id="16" name="Text 14"/>
          <p:cNvSpPr/>
          <p:nvPr/>
        </p:nvSpPr>
        <p:spPr>
          <a:xfrm>
            <a:off x="1005840" y="3977640"/>
            <a:ext cx="4663440" cy="320040"/>
          </a:xfrm>
          <a:prstGeom prst="rect">
            <a:avLst/>
          </a:prstGeom>
          <a:noFill/>
          <a:ln/>
        </p:spPr>
        <p:txBody>
          <a:bodyPr wrap="square" rtlCol="0" anchor="ctr"/>
          <a:lstStyle/>
          <a:p>
            <a:pPr indent="0" marL="0">
              <a:buNone/>
            </a:pPr>
            <a:r>
              <a:rPr lang="en-US" sz="1250" b="1" dirty="0">
                <a:solidFill>
                  <a:srgbClr val="0F172A"/>
                </a:solidFill>
                <a:latin typeface="Arial" pitchFamily="34" charset="0"/>
                <a:ea typeface="Arial" pitchFamily="34" charset="-122"/>
                <a:cs typeface="Arial" pitchFamily="34" charset="-120"/>
              </a:rPr>
              <a:t>🔐  Neon Auth Cloud Security</a:t>
            </a:r>
            <a:endParaRPr lang="en-US" sz="1250" dirty="0"/>
          </a:p>
        </p:txBody>
      </p:sp>
      <p:sp>
        <p:nvSpPr>
          <p:cNvPr id="17" name="Text 15"/>
          <p:cNvSpPr/>
          <p:nvPr/>
        </p:nvSpPr>
        <p:spPr>
          <a:xfrm>
            <a:off x="1005840" y="4343400"/>
            <a:ext cx="4663440" cy="438912"/>
          </a:xfrm>
          <a:prstGeom prst="rect">
            <a:avLst/>
          </a:prstGeom>
          <a:noFill/>
          <a:ln/>
        </p:spPr>
        <p:txBody>
          <a:bodyPr wrap="square" rtlCol="0" anchor="ctr"/>
          <a:lstStyle/>
          <a:p>
            <a:pPr indent="0" marL="0">
              <a:buNone/>
            </a:pPr>
            <a:r>
              <a:rPr lang="en-US" sz="900" dirty="0">
                <a:solidFill>
                  <a:srgbClr val="334155"/>
                </a:solidFill>
                <a:latin typeface="Arial" pitchFamily="34" charset="0"/>
                <a:ea typeface="Arial" pitchFamily="34" charset="-122"/>
                <a:cs typeface="Arial" pitchFamily="34" charset="-120"/>
              </a:rPr>
              <a:t>• Multi-factor and session token management via secure HTTP-only cookies.</a:t>
            </a:r>
            <a:endParaRPr lang="en-US" sz="900" dirty="0"/>
          </a:p>
        </p:txBody>
      </p:sp>
      <p:sp>
        <p:nvSpPr>
          <p:cNvPr id="18" name="Text 16"/>
          <p:cNvSpPr/>
          <p:nvPr/>
        </p:nvSpPr>
        <p:spPr>
          <a:xfrm>
            <a:off x="1005840" y="4800600"/>
            <a:ext cx="4663440" cy="438912"/>
          </a:xfrm>
          <a:prstGeom prst="rect">
            <a:avLst/>
          </a:prstGeom>
          <a:noFill/>
          <a:ln/>
        </p:spPr>
        <p:txBody>
          <a:bodyPr wrap="square" rtlCol="0" anchor="ctr"/>
          <a:lstStyle/>
          <a:p>
            <a:pPr indent="0" marL="0">
              <a:buNone/>
            </a:pPr>
            <a:r>
              <a:rPr lang="en-US" sz="900" dirty="0">
                <a:solidFill>
                  <a:srgbClr val="334155"/>
                </a:solidFill>
                <a:latin typeface="Arial" pitchFamily="34" charset="0"/>
                <a:ea typeface="Arial" pitchFamily="34" charset="-122"/>
                <a:cs typeface="Arial" pitchFamily="34" charset="-120"/>
              </a:rPr>
              <a:t>• Next.js BFF server proxy ensures origin whitelisting and CSRF protection.</a:t>
            </a:r>
            <a:endParaRPr lang="en-US" sz="900" dirty="0"/>
          </a:p>
        </p:txBody>
      </p:sp>
      <p:sp>
        <p:nvSpPr>
          <p:cNvPr id="19" name="Text 17"/>
          <p:cNvSpPr/>
          <p:nvPr/>
        </p:nvSpPr>
        <p:spPr>
          <a:xfrm>
            <a:off x="1005840" y="5257800"/>
            <a:ext cx="4663440" cy="438912"/>
          </a:xfrm>
          <a:prstGeom prst="rect">
            <a:avLst/>
          </a:prstGeom>
          <a:noFill/>
          <a:ln/>
        </p:spPr>
        <p:txBody>
          <a:bodyPr wrap="square" rtlCol="0" anchor="ctr"/>
          <a:lstStyle/>
          <a:p>
            <a:pPr indent="0" marL="0">
              <a:buNone/>
            </a:pPr>
            <a:r>
              <a:rPr lang="en-US" sz="900" dirty="0">
                <a:solidFill>
                  <a:srgbClr val="334155"/>
                </a:solidFill>
                <a:latin typeface="Arial" pitchFamily="34" charset="0"/>
                <a:ea typeface="Arial" pitchFamily="34" charset="-122"/>
                <a:cs typeface="Arial" pitchFamily="34" charset="-120"/>
              </a:rPr>
              <a:t>• Strict password hashing and automated token revocation upon sign-out.</a:t>
            </a:r>
            <a:endParaRPr lang="en-US" sz="900" dirty="0"/>
          </a:p>
        </p:txBody>
      </p:sp>
      <p:sp>
        <p:nvSpPr>
          <p:cNvPr id="20" name="Shape 18"/>
          <p:cNvSpPr/>
          <p:nvPr/>
        </p:nvSpPr>
        <p:spPr>
          <a:xfrm>
            <a:off x="6217920" y="3749040"/>
            <a:ext cx="5212080" cy="2103120"/>
          </a:xfrm>
          <a:prstGeom prst="roundRect">
            <a:avLst>
              <a:gd name="adj" fmla="val 5217"/>
            </a:avLst>
          </a:prstGeom>
          <a:solidFill>
            <a:srgbClr val="FFFFFF"/>
          </a:solidFill>
          <a:ln w="15240">
            <a:solidFill>
              <a:srgbClr val="BFDBFE"/>
            </a:solidFill>
            <a:prstDash val="solid"/>
          </a:ln>
        </p:spPr>
      </p:sp>
      <p:sp>
        <p:nvSpPr>
          <p:cNvPr id="21" name="Text 19"/>
          <p:cNvSpPr/>
          <p:nvPr/>
        </p:nvSpPr>
        <p:spPr>
          <a:xfrm>
            <a:off x="6492240" y="3977640"/>
            <a:ext cx="4663440" cy="320040"/>
          </a:xfrm>
          <a:prstGeom prst="rect">
            <a:avLst/>
          </a:prstGeom>
          <a:noFill/>
          <a:ln/>
        </p:spPr>
        <p:txBody>
          <a:bodyPr wrap="square" rtlCol="0" anchor="ctr"/>
          <a:lstStyle/>
          <a:p>
            <a:pPr indent="0" marL="0">
              <a:buNone/>
            </a:pPr>
            <a:r>
              <a:rPr lang="en-US" sz="1250" b="1" dirty="0">
                <a:solidFill>
                  <a:srgbClr val="0F172A"/>
                </a:solidFill>
                <a:latin typeface="Arial" pitchFamily="34" charset="0"/>
                <a:ea typeface="Arial" pitchFamily="34" charset="-122"/>
                <a:cs typeface="Arial" pitchFamily="34" charset="-120"/>
              </a:rPr>
              <a:t>📜  Charter-Protected Anti-Retaliation</a:t>
            </a:r>
            <a:endParaRPr lang="en-US" sz="1250" dirty="0"/>
          </a:p>
        </p:txBody>
      </p:sp>
      <p:sp>
        <p:nvSpPr>
          <p:cNvPr id="22" name="Text 20"/>
          <p:cNvSpPr/>
          <p:nvPr/>
        </p:nvSpPr>
        <p:spPr>
          <a:xfrm>
            <a:off x="6492240" y="4343400"/>
            <a:ext cx="4663440" cy="438912"/>
          </a:xfrm>
          <a:prstGeom prst="rect">
            <a:avLst/>
          </a:prstGeom>
          <a:noFill/>
          <a:ln/>
        </p:spPr>
        <p:txBody>
          <a:bodyPr wrap="square" rtlCol="0" anchor="ctr"/>
          <a:lstStyle/>
          <a:p>
            <a:pPr indent="0" marL="0">
              <a:buNone/>
            </a:pPr>
            <a:r>
              <a:rPr lang="en-US" sz="900" dirty="0">
                <a:solidFill>
                  <a:srgbClr val="334155"/>
                </a:solidFill>
                <a:latin typeface="Arial" pitchFamily="34" charset="0"/>
                <a:ea typeface="Arial" pitchFamily="34" charset="-122"/>
                <a:cs typeface="Arial" pitchFamily="34" charset="-120"/>
              </a:rPr>
              <a:t>• Formal backing from Samara University Peace Forum &amp; Student Union.</a:t>
            </a:r>
            <a:endParaRPr lang="en-US" sz="900" dirty="0"/>
          </a:p>
        </p:txBody>
      </p:sp>
      <p:sp>
        <p:nvSpPr>
          <p:cNvPr id="23" name="Text 21"/>
          <p:cNvSpPr/>
          <p:nvPr/>
        </p:nvSpPr>
        <p:spPr>
          <a:xfrm>
            <a:off x="6492240" y="4800600"/>
            <a:ext cx="4663440" cy="438912"/>
          </a:xfrm>
          <a:prstGeom prst="rect">
            <a:avLst/>
          </a:prstGeom>
          <a:noFill/>
          <a:ln/>
        </p:spPr>
        <p:txBody>
          <a:bodyPr wrap="square" rtlCol="0" anchor="ctr"/>
          <a:lstStyle/>
          <a:p>
            <a:pPr indent="0" marL="0">
              <a:buNone/>
            </a:pPr>
            <a:r>
              <a:rPr lang="en-US" sz="900" dirty="0">
                <a:solidFill>
                  <a:srgbClr val="334155"/>
                </a:solidFill>
                <a:latin typeface="Arial" pitchFamily="34" charset="0"/>
                <a:ea typeface="Arial" pitchFamily="34" charset="-122"/>
                <a:cs typeface="Arial" pitchFamily="34" charset="-120"/>
              </a:rPr>
              <a:t>• Zero-retaliation legal policy guarantees student protection against academic penalties.</a:t>
            </a:r>
            <a:endParaRPr lang="en-US" sz="900" dirty="0"/>
          </a:p>
        </p:txBody>
      </p:sp>
      <p:sp>
        <p:nvSpPr>
          <p:cNvPr id="24" name="Text 22"/>
          <p:cNvSpPr/>
          <p:nvPr/>
        </p:nvSpPr>
        <p:spPr>
          <a:xfrm>
            <a:off x="6492240" y="5257800"/>
            <a:ext cx="4663440" cy="438912"/>
          </a:xfrm>
          <a:prstGeom prst="rect">
            <a:avLst/>
          </a:prstGeom>
          <a:noFill/>
          <a:ln/>
        </p:spPr>
        <p:txBody>
          <a:bodyPr wrap="square" rtlCol="0" anchor="ctr"/>
          <a:lstStyle/>
          <a:p>
            <a:pPr indent="0" marL="0">
              <a:buNone/>
            </a:pPr>
            <a:r>
              <a:rPr lang="en-US" sz="900" dirty="0">
                <a:solidFill>
                  <a:srgbClr val="334155"/>
                </a:solidFill>
                <a:latin typeface="Arial" pitchFamily="34" charset="0"/>
                <a:ea typeface="Arial" pitchFamily="34" charset="-122"/>
                <a:cs typeface="Arial" pitchFamily="34" charset="-120"/>
              </a:rPr>
              <a:t>• Immutable audit timestamps prevent records from being altered or erased.</a:t>
            </a:r>
            <a:endParaRPr lang="en-US" sz="900" dirty="0"/>
          </a:p>
        </p:txBody>
      </p:sp>
      <p:sp>
        <p:nvSpPr>
          <p:cNvPr id="25" name="Text 23"/>
          <p:cNvSpPr/>
          <p:nvPr/>
        </p:nvSpPr>
        <p:spPr>
          <a:xfrm>
            <a:off x="731520" y="6400800"/>
            <a:ext cx="1069848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Samara Student Voices | Confidential &amp; Charter-Protected | Slide 9 of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10698480" cy="27432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SAMARA UNIVERSITY — STUDENT VOICE &amp; SAFETY NETWORK</a:t>
            </a:r>
            <a:endParaRPr lang="en-US" sz="1000" dirty="0"/>
          </a:p>
        </p:txBody>
      </p:sp>
      <p:sp>
        <p:nvSpPr>
          <p:cNvPr id="3" name="Text 1"/>
          <p:cNvSpPr/>
          <p:nvPr/>
        </p:nvSpPr>
        <p:spPr>
          <a:xfrm>
            <a:off x="731520" y="594360"/>
            <a:ext cx="1069848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Modern Full-Stack Technical Architecture</a:t>
            </a:r>
            <a:endParaRPr lang="en-US" sz="2200" dirty="0"/>
          </a:p>
        </p:txBody>
      </p:sp>
      <p:sp>
        <p:nvSpPr>
          <p:cNvPr id="4" name="Shape 2"/>
          <p:cNvSpPr/>
          <p:nvPr/>
        </p:nvSpPr>
        <p:spPr>
          <a:xfrm>
            <a:off x="731520" y="1188720"/>
            <a:ext cx="10698480" cy="0"/>
          </a:xfrm>
          <a:prstGeom prst="line">
            <a:avLst/>
          </a:prstGeom>
          <a:noFill/>
          <a:ln w="12700">
            <a:solidFill>
              <a:srgbClr val="CBD5E1"/>
            </a:solidFill>
            <a:prstDash val="solid"/>
          </a:ln>
        </p:spPr>
      </p:sp>
      <p:sp>
        <p:nvSpPr>
          <p:cNvPr id="5" name="Shape 3"/>
          <p:cNvSpPr/>
          <p:nvPr/>
        </p:nvSpPr>
        <p:spPr>
          <a:xfrm>
            <a:off x="731520" y="1463040"/>
            <a:ext cx="2560320" cy="4572000"/>
          </a:xfrm>
          <a:prstGeom prst="roundRect">
            <a:avLst>
              <a:gd name="adj" fmla="val 4286"/>
            </a:avLst>
          </a:prstGeom>
          <a:solidFill>
            <a:srgbClr val="FFFFFF"/>
          </a:solidFill>
          <a:ln w="15240">
            <a:solidFill>
              <a:srgbClr val="CBD5E1"/>
            </a:solidFill>
            <a:prstDash val="solid"/>
          </a:ln>
        </p:spPr>
      </p:sp>
      <p:sp>
        <p:nvSpPr>
          <p:cNvPr id="6" name="Shape 4"/>
          <p:cNvSpPr/>
          <p:nvPr/>
        </p:nvSpPr>
        <p:spPr>
          <a:xfrm>
            <a:off x="868680" y="1645920"/>
            <a:ext cx="2286000" cy="320040"/>
          </a:xfrm>
          <a:prstGeom prst="roundRect">
            <a:avLst>
              <a:gd name="adj" fmla="val 22857"/>
            </a:avLst>
          </a:prstGeom>
          <a:solidFill>
            <a:srgbClr val="EFF6FF"/>
          </a:solidFill>
          <a:ln w="6350">
            <a:solidFill>
              <a:srgbClr val="CBD5E1"/>
            </a:solidFill>
            <a:prstDash val="solid"/>
          </a:ln>
        </p:spPr>
      </p:sp>
      <p:sp>
        <p:nvSpPr>
          <p:cNvPr id="7" name="Text 5"/>
          <p:cNvSpPr/>
          <p:nvPr/>
        </p:nvSpPr>
        <p:spPr>
          <a:xfrm>
            <a:off x="868680" y="1691640"/>
            <a:ext cx="2286000" cy="228600"/>
          </a:xfrm>
          <a:prstGeom prst="rect">
            <a:avLst/>
          </a:prstGeom>
          <a:noFill/>
          <a:ln/>
        </p:spPr>
        <p:txBody>
          <a:bodyPr wrap="square" rtlCol="0" anchor="ctr"/>
          <a:lstStyle/>
          <a:p>
            <a:pPr algn="ctr" indent="0" marL="0">
              <a:buNone/>
            </a:pPr>
            <a:r>
              <a:rPr lang="en-US" sz="900" b="1" dirty="0">
                <a:solidFill>
                  <a:srgbClr val="2563EB"/>
                </a:solidFill>
                <a:latin typeface="Arial" pitchFamily="34" charset="0"/>
                <a:ea typeface="Arial" pitchFamily="34" charset="-122"/>
                <a:cs typeface="Arial" pitchFamily="34" charset="-120"/>
              </a:rPr>
              <a:t>FRONTEND / UX</a:t>
            </a:r>
            <a:endParaRPr lang="en-US" sz="900" dirty="0"/>
          </a:p>
        </p:txBody>
      </p:sp>
      <p:sp>
        <p:nvSpPr>
          <p:cNvPr id="8" name="Text 6"/>
          <p:cNvSpPr/>
          <p:nvPr/>
        </p:nvSpPr>
        <p:spPr>
          <a:xfrm>
            <a:off x="868680" y="2194560"/>
            <a:ext cx="2286000" cy="731520"/>
          </a:xfrm>
          <a:prstGeom prst="rect">
            <a:avLst/>
          </a:prstGeom>
          <a:noFill/>
          <a:ln/>
        </p:spPr>
        <p:txBody>
          <a:bodyPr wrap="square" rtlCol="0" anchor="ctr"/>
          <a:lstStyle/>
          <a:p>
            <a:pPr algn="ctr" indent="0" marL="0">
              <a:buNone/>
            </a:pPr>
            <a:r>
              <a:rPr lang="en-US" sz="1250" b="1" dirty="0">
                <a:solidFill>
                  <a:srgbClr val="0F172A"/>
                </a:solidFill>
                <a:latin typeface="Arial" pitchFamily="34" charset="0"/>
                <a:ea typeface="Arial" pitchFamily="34" charset="-122"/>
                <a:cs typeface="Arial" pitchFamily="34" charset="-120"/>
              </a:rPr>
              <a:t>Next.js 16 (Turbopack) &amp; React 19</a:t>
            </a:r>
            <a:endParaRPr lang="en-US" sz="1250" dirty="0"/>
          </a:p>
        </p:txBody>
      </p:sp>
      <p:sp>
        <p:nvSpPr>
          <p:cNvPr id="9" name="Shape 7"/>
          <p:cNvSpPr/>
          <p:nvPr/>
        </p:nvSpPr>
        <p:spPr>
          <a:xfrm>
            <a:off x="1005840" y="3017520"/>
            <a:ext cx="2011680" cy="0"/>
          </a:xfrm>
          <a:prstGeom prst="line">
            <a:avLst/>
          </a:prstGeom>
          <a:noFill/>
          <a:ln w="12700">
            <a:solidFill>
              <a:srgbClr val="E2E8F0"/>
            </a:solidFill>
            <a:prstDash val="solid"/>
          </a:ln>
        </p:spPr>
      </p:sp>
      <p:sp>
        <p:nvSpPr>
          <p:cNvPr id="10" name="Text 8"/>
          <p:cNvSpPr/>
          <p:nvPr/>
        </p:nvSpPr>
        <p:spPr>
          <a:xfrm>
            <a:off x="914400" y="3291840"/>
            <a:ext cx="2194560" cy="2468880"/>
          </a:xfrm>
          <a:prstGeom prst="rect">
            <a:avLst/>
          </a:prstGeom>
          <a:noFill/>
          <a:ln/>
        </p:spPr>
        <p:txBody>
          <a:bodyPr wrap="square" rtlCol="0" anchor="ctr"/>
          <a:lstStyle/>
          <a:p>
            <a:pPr algn="ctr" indent="0" marL="0">
              <a:lnSpc>
                <a:spcPts val="1600"/>
              </a:lnSpc>
              <a:buNone/>
            </a:pPr>
            <a:r>
              <a:rPr lang="en-US" sz="1000" dirty="0">
                <a:solidFill>
                  <a:srgbClr val="334155"/>
                </a:solidFill>
                <a:latin typeface="Arial" pitchFamily="34" charset="0"/>
                <a:ea typeface="Arial" pitchFamily="34" charset="-122"/>
                <a:cs typeface="Arial" pitchFamily="34" charset="-120"/>
              </a:rPr>
              <a:t>Tailwind CSS v4, Lucide Icons, Framer Motion, and Base-UI accessible components delivering 100% responsive desktop &amp; mobile performance.</a:t>
            </a:r>
            <a:endParaRPr lang="en-US" sz="1000" dirty="0"/>
          </a:p>
        </p:txBody>
      </p:sp>
      <p:sp>
        <p:nvSpPr>
          <p:cNvPr id="11" name="Shape 9"/>
          <p:cNvSpPr/>
          <p:nvPr/>
        </p:nvSpPr>
        <p:spPr>
          <a:xfrm>
            <a:off x="3474720" y="1463040"/>
            <a:ext cx="2560320" cy="4572000"/>
          </a:xfrm>
          <a:prstGeom prst="roundRect">
            <a:avLst>
              <a:gd name="adj" fmla="val 4286"/>
            </a:avLst>
          </a:prstGeom>
          <a:solidFill>
            <a:srgbClr val="FFFFFF"/>
          </a:solidFill>
          <a:ln w="15240">
            <a:solidFill>
              <a:srgbClr val="CBD5E1"/>
            </a:solidFill>
            <a:prstDash val="solid"/>
          </a:ln>
        </p:spPr>
      </p:sp>
      <p:sp>
        <p:nvSpPr>
          <p:cNvPr id="12" name="Shape 10"/>
          <p:cNvSpPr/>
          <p:nvPr/>
        </p:nvSpPr>
        <p:spPr>
          <a:xfrm>
            <a:off x="3611880" y="1645920"/>
            <a:ext cx="2286000" cy="320040"/>
          </a:xfrm>
          <a:prstGeom prst="roundRect">
            <a:avLst>
              <a:gd name="adj" fmla="val 22857"/>
            </a:avLst>
          </a:prstGeom>
          <a:solidFill>
            <a:srgbClr val="ECFDF5"/>
          </a:solidFill>
          <a:ln w="6350">
            <a:solidFill>
              <a:srgbClr val="CBD5E1"/>
            </a:solidFill>
            <a:prstDash val="solid"/>
          </a:ln>
        </p:spPr>
      </p:sp>
      <p:sp>
        <p:nvSpPr>
          <p:cNvPr id="13" name="Text 11"/>
          <p:cNvSpPr/>
          <p:nvPr/>
        </p:nvSpPr>
        <p:spPr>
          <a:xfrm>
            <a:off x="3611880" y="1691640"/>
            <a:ext cx="2286000" cy="228600"/>
          </a:xfrm>
          <a:prstGeom prst="rect">
            <a:avLst/>
          </a:prstGeom>
          <a:noFill/>
          <a:ln/>
        </p:spPr>
        <p:txBody>
          <a:bodyPr wrap="square" rtlCol="0" anchor="ctr"/>
          <a:lstStyle/>
          <a:p>
            <a:pPr algn="ctr" indent="0" marL="0">
              <a:buNone/>
            </a:pPr>
            <a:r>
              <a:rPr lang="en-US" sz="900" b="1" dirty="0">
                <a:solidFill>
                  <a:srgbClr val="059669"/>
                </a:solidFill>
                <a:latin typeface="Arial" pitchFamily="34" charset="0"/>
                <a:ea typeface="Arial" pitchFamily="34" charset="-122"/>
                <a:cs typeface="Arial" pitchFamily="34" charset="-120"/>
              </a:rPr>
              <a:t>BACKEND &amp; PROXY</a:t>
            </a:r>
            <a:endParaRPr lang="en-US" sz="900" dirty="0"/>
          </a:p>
        </p:txBody>
      </p:sp>
      <p:sp>
        <p:nvSpPr>
          <p:cNvPr id="14" name="Text 12"/>
          <p:cNvSpPr/>
          <p:nvPr/>
        </p:nvSpPr>
        <p:spPr>
          <a:xfrm>
            <a:off x="3611880" y="2194560"/>
            <a:ext cx="2286000" cy="731520"/>
          </a:xfrm>
          <a:prstGeom prst="rect">
            <a:avLst/>
          </a:prstGeom>
          <a:noFill/>
          <a:ln/>
        </p:spPr>
        <p:txBody>
          <a:bodyPr wrap="square" rtlCol="0" anchor="ctr"/>
          <a:lstStyle/>
          <a:p>
            <a:pPr algn="ctr" indent="0" marL="0">
              <a:buNone/>
            </a:pPr>
            <a:r>
              <a:rPr lang="en-US" sz="1250" b="1" dirty="0">
                <a:solidFill>
                  <a:srgbClr val="0F172A"/>
                </a:solidFill>
                <a:latin typeface="Arial" pitchFamily="34" charset="0"/>
                <a:ea typeface="Arial" pitchFamily="34" charset="-122"/>
                <a:cs typeface="Arial" pitchFamily="34" charset="-120"/>
              </a:rPr>
              <a:t>Next.js Proxy &amp; API Route Handlers</a:t>
            </a:r>
            <a:endParaRPr lang="en-US" sz="1250" dirty="0"/>
          </a:p>
        </p:txBody>
      </p:sp>
      <p:sp>
        <p:nvSpPr>
          <p:cNvPr id="15" name="Shape 13"/>
          <p:cNvSpPr/>
          <p:nvPr/>
        </p:nvSpPr>
        <p:spPr>
          <a:xfrm>
            <a:off x="3749040" y="3017520"/>
            <a:ext cx="2011680" cy="0"/>
          </a:xfrm>
          <a:prstGeom prst="line">
            <a:avLst/>
          </a:prstGeom>
          <a:noFill/>
          <a:ln w="12700">
            <a:solidFill>
              <a:srgbClr val="E2E8F0"/>
            </a:solidFill>
            <a:prstDash val="solid"/>
          </a:ln>
        </p:spPr>
      </p:sp>
      <p:sp>
        <p:nvSpPr>
          <p:cNvPr id="16" name="Text 14"/>
          <p:cNvSpPr/>
          <p:nvPr/>
        </p:nvSpPr>
        <p:spPr>
          <a:xfrm>
            <a:off x="3657600" y="3291840"/>
            <a:ext cx="2194560" cy="2468880"/>
          </a:xfrm>
          <a:prstGeom prst="rect">
            <a:avLst/>
          </a:prstGeom>
          <a:noFill/>
          <a:ln/>
        </p:spPr>
        <p:txBody>
          <a:bodyPr wrap="square" rtlCol="0" anchor="ctr"/>
          <a:lstStyle/>
          <a:p>
            <a:pPr algn="ctr" indent="0" marL="0">
              <a:lnSpc>
                <a:spcPts val="1600"/>
              </a:lnSpc>
              <a:buNone/>
            </a:pPr>
            <a:r>
              <a:rPr lang="en-US" sz="1000" dirty="0">
                <a:solidFill>
                  <a:srgbClr val="334155"/>
                </a:solidFill>
                <a:latin typeface="Arial" pitchFamily="34" charset="0"/>
                <a:ea typeface="Arial" pitchFamily="34" charset="-122"/>
                <a:cs typeface="Arial" pitchFamily="34" charset="-120"/>
              </a:rPr>
              <a:t>Next.js 16 Proxy layer enforcing session authentication, role checks, and resilient Origin proxying to cloud authentication microservices.</a:t>
            </a:r>
            <a:endParaRPr lang="en-US" sz="1000" dirty="0"/>
          </a:p>
        </p:txBody>
      </p:sp>
      <p:sp>
        <p:nvSpPr>
          <p:cNvPr id="17" name="Shape 15"/>
          <p:cNvSpPr/>
          <p:nvPr/>
        </p:nvSpPr>
        <p:spPr>
          <a:xfrm>
            <a:off x="6217920" y="1463040"/>
            <a:ext cx="2560320" cy="4572000"/>
          </a:xfrm>
          <a:prstGeom prst="roundRect">
            <a:avLst>
              <a:gd name="adj" fmla="val 4286"/>
            </a:avLst>
          </a:prstGeom>
          <a:solidFill>
            <a:srgbClr val="FFFFFF"/>
          </a:solidFill>
          <a:ln w="15240">
            <a:solidFill>
              <a:srgbClr val="CBD5E1"/>
            </a:solidFill>
            <a:prstDash val="solid"/>
          </a:ln>
        </p:spPr>
      </p:sp>
      <p:sp>
        <p:nvSpPr>
          <p:cNvPr id="18" name="Shape 16"/>
          <p:cNvSpPr/>
          <p:nvPr/>
        </p:nvSpPr>
        <p:spPr>
          <a:xfrm>
            <a:off x="6355080" y="1645920"/>
            <a:ext cx="2286000" cy="320040"/>
          </a:xfrm>
          <a:prstGeom prst="roundRect">
            <a:avLst>
              <a:gd name="adj" fmla="val 22857"/>
            </a:avLst>
          </a:prstGeom>
          <a:solidFill>
            <a:srgbClr val="FFFBEB"/>
          </a:solidFill>
          <a:ln w="6350">
            <a:solidFill>
              <a:srgbClr val="CBD5E1"/>
            </a:solidFill>
            <a:prstDash val="solid"/>
          </a:ln>
        </p:spPr>
      </p:sp>
      <p:sp>
        <p:nvSpPr>
          <p:cNvPr id="19" name="Text 17"/>
          <p:cNvSpPr/>
          <p:nvPr/>
        </p:nvSpPr>
        <p:spPr>
          <a:xfrm>
            <a:off x="6355080" y="1691640"/>
            <a:ext cx="2286000" cy="228600"/>
          </a:xfrm>
          <a:prstGeom prst="rect">
            <a:avLst/>
          </a:prstGeom>
          <a:noFill/>
          <a:ln/>
        </p:spPr>
        <p:txBody>
          <a:bodyPr wrap="square" rtlCol="0" anchor="ctr"/>
          <a:lstStyle/>
          <a:p>
            <a:pPr algn="ctr" indent="0" marL="0">
              <a:buNone/>
            </a:pPr>
            <a:r>
              <a:rPr lang="en-US" sz="900" b="1" dirty="0">
                <a:solidFill>
                  <a:srgbClr val="D97706"/>
                </a:solidFill>
                <a:latin typeface="Arial" pitchFamily="34" charset="0"/>
                <a:ea typeface="Arial" pitchFamily="34" charset="-122"/>
                <a:cs typeface="Arial" pitchFamily="34" charset="-120"/>
              </a:rPr>
              <a:t>DATABASE &amp; ORM</a:t>
            </a:r>
            <a:endParaRPr lang="en-US" sz="900" dirty="0"/>
          </a:p>
        </p:txBody>
      </p:sp>
      <p:sp>
        <p:nvSpPr>
          <p:cNvPr id="20" name="Text 18"/>
          <p:cNvSpPr/>
          <p:nvPr/>
        </p:nvSpPr>
        <p:spPr>
          <a:xfrm>
            <a:off x="6355080" y="2194560"/>
            <a:ext cx="2286000" cy="731520"/>
          </a:xfrm>
          <a:prstGeom prst="rect">
            <a:avLst/>
          </a:prstGeom>
          <a:noFill/>
          <a:ln/>
        </p:spPr>
        <p:txBody>
          <a:bodyPr wrap="square" rtlCol="0" anchor="ctr"/>
          <a:lstStyle/>
          <a:p>
            <a:pPr algn="ctr" indent="0" marL="0">
              <a:buNone/>
            </a:pPr>
            <a:r>
              <a:rPr lang="en-US" sz="1250" b="1" dirty="0">
                <a:solidFill>
                  <a:srgbClr val="0F172A"/>
                </a:solidFill>
                <a:latin typeface="Arial" pitchFamily="34" charset="0"/>
                <a:ea typeface="Arial" pitchFamily="34" charset="-122"/>
                <a:cs typeface="Arial" pitchFamily="34" charset="-120"/>
              </a:rPr>
              <a:t>Neon Serverless PostgreSQL &amp; Drizzle ORM</a:t>
            </a:r>
            <a:endParaRPr lang="en-US" sz="1250" dirty="0"/>
          </a:p>
        </p:txBody>
      </p:sp>
      <p:sp>
        <p:nvSpPr>
          <p:cNvPr id="21" name="Shape 19"/>
          <p:cNvSpPr/>
          <p:nvPr/>
        </p:nvSpPr>
        <p:spPr>
          <a:xfrm>
            <a:off x="6492240" y="3017520"/>
            <a:ext cx="2011680" cy="0"/>
          </a:xfrm>
          <a:prstGeom prst="line">
            <a:avLst/>
          </a:prstGeom>
          <a:noFill/>
          <a:ln w="12700">
            <a:solidFill>
              <a:srgbClr val="E2E8F0"/>
            </a:solidFill>
            <a:prstDash val="solid"/>
          </a:ln>
        </p:spPr>
      </p:sp>
      <p:sp>
        <p:nvSpPr>
          <p:cNvPr id="22" name="Text 20"/>
          <p:cNvSpPr/>
          <p:nvPr/>
        </p:nvSpPr>
        <p:spPr>
          <a:xfrm>
            <a:off x="6400800" y="3291840"/>
            <a:ext cx="2194560" cy="2468880"/>
          </a:xfrm>
          <a:prstGeom prst="rect">
            <a:avLst/>
          </a:prstGeom>
          <a:noFill/>
          <a:ln/>
        </p:spPr>
        <p:txBody>
          <a:bodyPr wrap="square" rtlCol="0" anchor="ctr"/>
          <a:lstStyle/>
          <a:p>
            <a:pPr algn="ctr" indent="0" marL="0">
              <a:lnSpc>
                <a:spcPts val="1600"/>
              </a:lnSpc>
              <a:buNone/>
            </a:pPr>
            <a:r>
              <a:rPr lang="en-US" sz="1000" dirty="0">
                <a:solidFill>
                  <a:srgbClr val="334155"/>
                </a:solidFill>
                <a:latin typeface="Arial" pitchFamily="34" charset="0"/>
                <a:ea typeface="Arial" pitchFamily="34" charset="-122"/>
                <a:cs typeface="Arial" pitchFamily="34" charset="-120"/>
              </a:rPr>
              <a:t>Serverless PostgreSQL with branchable architecture, type-safe schema definitions, relational joins, and automated schema migrations.</a:t>
            </a:r>
            <a:endParaRPr lang="en-US" sz="1000" dirty="0"/>
          </a:p>
        </p:txBody>
      </p:sp>
      <p:sp>
        <p:nvSpPr>
          <p:cNvPr id="23" name="Shape 21"/>
          <p:cNvSpPr/>
          <p:nvPr/>
        </p:nvSpPr>
        <p:spPr>
          <a:xfrm>
            <a:off x="8961120" y="1463040"/>
            <a:ext cx="2560320" cy="4572000"/>
          </a:xfrm>
          <a:prstGeom prst="roundRect">
            <a:avLst>
              <a:gd name="adj" fmla="val 4286"/>
            </a:avLst>
          </a:prstGeom>
          <a:solidFill>
            <a:srgbClr val="FFFFFF"/>
          </a:solidFill>
          <a:ln w="15240">
            <a:solidFill>
              <a:srgbClr val="CBD5E1"/>
            </a:solidFill>
            <a:prstDash val="solid"/>
          </a:ln>
        </p:spPr>
      </p:sp>
      <p:sp>
        <p:nvSpPr>
          <p:cNvPr id="24" name="Shape 22"/>
          <p:cNvSpPr/>
          <p:nvPr/>
        </p:nvSpPr>
        <p:spPr>
          <a:xfrm>
            <a:off x="9098280" y="1645920"/>
            <a:ext cx="2286000" cy="320040"/>
          </a:xfrm>
          <a:prstGeom prst="roundRect">
            <a:avLst>
              <a:gd name="adj" fmla="val 22857"/>
            </a:avLst>
          </a:prstGeom>
          <a:solidFill>
            <a:srgbClr val="FFF1F2"/>
          </a:solidFill>
          <a:ln w="6350">
            <a:solidFill>
              <a:srgbClr val="CBD5E1"/>
            </a:solidFill>
            <a:prstDash val="solid"/>
          </a:ln>
        </p:spPr>
      </p:sp>
      <p:sp>
        <p:nvSpPr>
          <p:cNvPr id="25" name="Text 23"/>
          <p:cNvSpPr/>
          <p:nvPr/>
        </p:nvSpPr>
        <p:spPr>
          <a:xfrm>
            <a:off x="9098280" y="1691640"/>
            <a:ext cx="2286000" cy="228600"/>
          </a:xfrm>
          <a:prstGeom prst="rect">
            <a:avLst/>
          </a:prstGeom>
          <a:noFill/>
          <a:ln/>
        </p:spPr>
        <p:txBody>
          <a:bodyPr wrap="square" rtlCol="0" anchor="ctr"/>
          <a:lstStyle/>
          <a:p>
            <a:pPr algn="ctr" indent="0" marL="0">
              <a:buNone/>
            </a:pPr>
            <a:r>
              <a:rPr lang="en-US" sz="900" b="1" dirty="0">
                <a:solidFill>
                  <a:srgbClr val="E11D48"/>
                </a:solidFill>
                <a:latin typeface="Arial" pitchFamily="34" charset="0"/>
                <a:ea typeface="Arial" pitchFamily="34" charset="-122"/>
                <a:cs typeface="Arial" pitchFamily="34" charset="-120"/>
              </a:rPr>
              <a:t>REAL-TIME &amp; ALERTS</a:t>
            </a:r>
            <a:endParaRPr lang="en-US" sz="900" dirty="0"/>
          </a:p>
        </p:txBody>
      </p:sp>
      <p:sp>
        <p:nvSpPr>
          <p:cNvPr id="26" name="Text 24"/>
          <p:cNvSpPr/>
          <p:nvPr/>
        </p:nvSpPr>
        <p:spPr>
          <a:xfrm>
            <a:off x="9098280" y="2194560"/>
            <a:ext cx="2286000" cy="731520"/>
          </a:xfrm>
          <a:prstGeom prst="rect">
            <a:avLst/>
          </a:prstGeom>
          <a:noFill/>
          <a:ln/>
        </p:spPr>
        <p:txBody>
          <a:bodyPr wrap="square" rtlCol="0" anchor="ctr"/>
          <a:lstStyle/>
          <a:p>
            <a:pPr algn="ctr" indent="0" marL="0">
              <a:buNone/>
            </a:pPr>
            <a:r>
              <a:rPr lang="en-US" sz="1250" b="1" dirty="0">
                <a:solidFill>
                  <a:srgbClr val="0F172A"/>
                </a:solidFill>
                <a:latin typeface="Arial" pitchFamily="34" charset="0"/>
                <a:ea typeface="Arial" pitchFamily="34" charset="-122"/>
                <a:cs typeface="Arial" pitchFamily="34" charset="-120"/>
              </a:rPr>
              <a:t>Ably WebSockets &amp; Nodemailer SMTP</a:t>
            </a:r>
            <a:endParaRPr lang="en-US" sz="1250" dirty="0"/>
          </a:p>
        </p:txBody>
      </p:sp>
      <p:sp>
        <p:nvSpPr>
          <p:cNvPr id="27" name="Shape 25"/>
          <p:cNvSpPr/>
          <p:nvPr/>
        </p:nvSpPr>
        <p:spPr>
          <a:xfrm>
            <a:off x="9235440" y="3017520"/>
            <a:ext cx="2011680" cy="0"/>
          </a:xfrm>
          <a:prstGeom prst="line">
            <a:avLst/>
          </a:prstGeom>
          <a:noFill/>
          <a:ln w="12700">
            <a:solidFill>
              <a:srgbClr val="E2E8F0"/>
            </a:solidFill>
            <a:prstDash val="solid"/>
          </a:ln>
        </p:spPr>
      </p:sp>
      <p:sp>
        <p:nvSpPr>
          <p:cNvPr id="28" name="Text 26"/>
          <p:cNvSpPr/>
          <p:nvPr/>
        </p:nvSpPr>
        <p:spPr>
          <a:xfrm>
            <a:off x="9144000" y="3291840"/>
            <a:ext cx="2194560" cy="2468880"/>
          </a:xfrm>
          <a:prstGeom prst="rect">
            <a:avLst/>
          </a:prstGeom>
          <a:noFill/>
          <a:ln/>
        </p:spPr>
        <p:txBody>
          <a:bodyPr wrap="square" rtlCol="0" anchor="ctr"/>
          <a:lstStyle/>
          <a:p>
            <a:pPr algn="ctr" indent="0" marL="0">
              <a:lnSpc>
                <a:spcPts val="1600"/>
              </a:lnSpc>
              <a:buNone/>
            </a:pPr>
            <a:r>
              <a:rPr lang="en-US" sz="1000" dirty="0">
                <a:solidFill>
                  <a:srgbClr val="334155"/>
                </a:solidFill>
                <a:latin typeface="Arial" pitchFamily="34" charset="0"/>
                <a:ea typeface="Arial" pitchFamily="34" charset="-122"/>
                <a:cs typeface="Arial" pitchFamily="34" charset="-120"/>
              </a:rPr>
              <a:t>Ably real-time token exchange for instant live status updates and chat; automated Gmail SMTP transactional notifications.</a:t>
            </a:r>
            <a:endParaRPr lang="en-US" sz="1000" dirty="0"/>
          </a:p>
        </p:txBody>
      </p:sp>
      <p:sp>
        <p:nvSpPr>
          <p:cNvPr id="29" name="Text 27"/>
          <p:cNvSpPr/>
          <p:nvPr/>
        </p:nvSpPr>
        <p:spPr>
          <a:xfrm>
            <a:off x="731520" y="6400800"/>
            <a:ext cx="1069848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Samara Student Voices | Confidential &amp; Charter-Protected | Slide 10 of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731520" y="365760"/>
            <a:ext cx="10698480" cy="274320"/>
          </a:xfrm>
          <a:prstGeom prst="rect">
            <a:avLst/>
          </a:prstGeom>
          <a:noFill/>
          <a:ln/>
        </p:spPr>
        <p:txBody>
          <a:bodyPr wrap="square" rtlCol="0" anchor="ctr"/>
          <a:lstStyle/>
          <a:p>
            <a:pPr indent="0" marL="0">
              <a:buNone/>
            </a:pPr>
            <a:r>
              <a:rPr lang="en-US" sz="1000" b="1" dirty="0">
                <a:solidFill>
                  <a:srgbClr val="2563EB"/>
                </a:solidFill>
                <a:latin typeface="Arial" pitchFamily="34" charset="0"/>
                <a:ea typeface="Arial" pitchFamily="34" charset="-122"/>
                <a:cs typeface="Arial" pitchFamily="34" charset="-120"/>
              </a:rPr>
              <a:t>SAMARA UNIVERSITY — STUDENT VOICE &amp; SAFETY NETWORK</a:t>
            </a:r>
            <a:endParaRPr lang="en-US" sz="1000" dirty="0"/>
          </a:p>
        </p:txBody>
      </p:sp>
      <p:sp>
        <p:nvSpPr>
          <p:cNvPr id="3" name="Text 1"/>
          <p:cNvSpPr/>
          <p:nvPr/>
        </p:nvSpPr>
        <p:spPr>
          <a:xfrm>
            <a:off x="731520" y="594360"/>
            <a:ext cx="10698480" cy="548640"/>
          </a:xfrm>
          <a:prstGeom prst="rect">
            <a:avLst/>
          </a:prstGeom>
          <a:noFill/>
          <a:ln/>
        </p:spPr>
        <p:txBody>
          <a:bodyPr wrap="square" rtlCol="0" anchor="ctr"/>
          <a:lstStyle/>
          <a:p>
            <a:pPr indent="0" marL="0">
              <a:buNone/>
            </a:pPr>
            <a:r>
              <a:rPr lang="en-US" sz="2200" b="1" dirty="0">
                <a:solidFill>
                  <a:srgbClr val="0F172A"/>
                </a:solidFill>
                <a:latin typeface="Arial" pitchFamily="34" charset="0"/>
                <a:ea typeface="Arial" pitchFamily="34" charset="-122"/>
                <a:cs typeface="Arial" pitchFamily="34" charset="-120"/>
              </a:rPr>
              <a:t>Frequently Asked Questions &amp; Answers</a:t>
            </a:r>
            <a:endParaRPr lang="en-US" sz="2200" dirty="0"/>
          </a:p>
        </p:txBody>
      </p:sp>
      <p:sp>
        <p:nvSpPr>
          <p:cNvPr id="4" name="Shape 2"/>
          <p:cNvSpPr/>
          <p:nvPr/>
        </p:nvSpPr>
        <p:spPr>
          <a:xfrm>
            <a:off x="731520" y="1188720"/>
            <a:ext cx="10698480" cy="0"/>
          </a:xfrm>
          <a:prstGeom prst="line">
            <a:avLst/>
          </a:prstGeom>
          <a:noFill/>
          <a:ln w="12700">
            <a:solidFill>
              <a:srgbClr val="CBD5E1"/>
            </a:solidFill>
            <a:prstDash val="solid"/>
          </a:ln>
        </p:spPr>
      </p:sp>
      <p:sp>
        <p:nvSpPr>
          <p:cNvPr id="5" name="Shape 3"/>
          <p:cNvSpPr/>
          <p:nvPr/>
        </p:nvSpPr>
        <p:spPr>
          <a:xfrm>
            <a:off x="731520" y="1463040"/>
            <a:ext cx="10698480" cy="1051560"/>
          </a:xfrm>
          <a:prstGeom prst="roundRect">
            <a:avLst>
              <a:gd name="adj" fmla="val 8696"/>
            </a:avLst>
          </a:prstGeom>
          <a:solidFill>
            <a:srgbClr val="FFFFFF"/>
          </a:solidFill>
          <a:ln w="12700">
            <a:solidFill>
              <a:srgbClr val="BFDBFE"/>
            </a:solidFill>
            <a:prstDash val="solid"/>
          </a:ln>
        </p:spPr>
      </p:sp>
      <p:sp>
        <p:nvSpPr>
          <p:cNvPr id="6" name="Text 4"/>
          <p:cNvSpPr/>
          <p:nvPr/>
        </p:nvSpPr>
        <p:spPr>
          <a:xfrm>
            <a:off x="914400" y="1554480"/>
            <a:ext cx="10332720" cy="320040"/>
          </a:xfrm>
          <a:prstGeom prst="rect">
            <a:avLst/>
          </a:prstGeom>
          <a:noFill/>
          <a:ln/>
        </p:spPr>
        <p:txBody>
          <a:bodyPr wrap="square" rtlCol="0" anchor="ctr"/>
          <a:lstStyle/>
          <a:p>
            <a:pPr indent="0" marL="0">
              <a:buNone/>
            </a:pPr>
            <a:r>
              <a:rPr lang="en-US" sz="1100" b="1" dirty="0">
                <a:solidFill>
                  <a:srgbClr val="2563EB"/>
                </a:solidFill>
                <a:latin typeface="Arial" pitchFamily="34" charset="0"/>
                <a:ea typeface="Arial" pitchFamily="34" charset="-122"/>
                <a:cs typeface="Arial" pitchFamily="34" charset="-120"/>
              </a:rPr>
              <a:t>Q1: Can anyone find out my name if I submit an anonymous report?</a:t>
            </a:r>
            <a:endParaRPr lang="en-US" sz="1100" dirty="0"/>
          </a:p>
        </p:txBody>
      </p:sp>
      <p:sp>
        <p:nvSpPr>
          <p:cNvPr id="7" name="Text 5"/>
          <p:cNvSpPr/>
          <p:nvPr/>
        </p:nvSpPr>
        <p:spPr>
          <a:xfrm>
            <a:off x="914400" y="1874520"/>
            <a:ext cx="10332720" cy="548640"/>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No. When anonymous mode is toggled, student name, email, and user account UUID are scrubbed at the database query layer. Reviewers receive only a pseudonymous identifier. You can chat back and forth without your identity ever being revealed.</a:t>
            </a:r>
            <a:endParaRPr lang="en-US" sz="950" dirty="0"/>
          </a:p>
        </p:txBody>
      </p:sp>
      <p:sp>
        <p:nvSpPr>
          <p:cNvPr id="8" name="Shape 6"/>
          <p:cNvSpPr/>
          <p:nvPr/>
        </p:nvSpPr>
        <p:spPr>
          <a:xfrm>
            <a:off x="731520" y="2606040"/>
            <a:ext cx="10698480" cy="1051560"/>
          </a:xfrm>
          <a:prstGeom prst="roundRect">
            <a:avLst>
              <a:gd name="adj" fmla="val 8696"/>
            </a:avLst>
          </a:prstGeom>
          <a:solidFill>
            <a:srgbClr val="FFFFFF"/>
          </a:solidFill>
          <a:ln w="12700">
            <a:solidFill>
              <a:srgbClr val="BFDBFE"/>
            </a:solidFill>
            <a:prstDash val="solid"/>
          </a:ln>
        </p:spPr>
      </p:sp>
      <p:sp>
        <p:nvSpPr>
          <p:cNvPr id="9" name="Text 7"/>
          <p:cNvSpPr/>
          <p:nvPr/>
        </p:nvSpPr>
        <p:spPr>
          <a:xfrm>
            <a:off x="914400" y="2697480"/>
            <a:ext cx="10332720" cy="320040"/>
          </a:xfrm>
          <a:prstGeom prst="rect">
            <a:avLst/>
          </a:prstGeom>
          <a:noFill/>
          <a:ln/>
        </p:spPr>
        <p:txBody>
          <a:bodyPr wrap="square" rtlCol="0" anchor="ctr"/>
          <a:lstStyle/>
          <a:p>
            <a:pPr indent="0" marL="0">
              <a:buNone/>
            </a:pPr>
            <a:r>
              <a:rPr lang="en-US" sz="1100" b="1" dirty="0">
                <a:solidFill>
                  <a:srgbClr val="2563EB"/>
                </a:solidFill>
                <a:latin typeface="Arial" pitchFamily="34" charset="0"/>
                <a:ea typeface="Arial" pitchFamily="34" charset="-122"/>
                <a:cs typeface="Arial" pitchFamily="34" charset="-120"/>
              </a:rPr>
              <a:t>Q2: Who sees my report if I submit sexual harassment or extortion?</a:t>
            </a:r>
            <a:endParaRPr lang="en-US" sz="1100" dirty="0"/>
          </a:p>
        </p:txBody>
      </p:sp>
      <p:sp>
        <p:nvSpPr>
          <p:cNvPr id="10" name="Text 8"/>
          <p:cNvSpPr/>
          <p:nvPr/>
        </p:nvSpPr>
        <p:spPr>
          <a:xfrm>
            <a:off x="914400" y="3017520"/>
            <a:ext cx="10332720" cy="548640"/>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Harassment reports bypass student executive council members completely. They are routed directly and exclusively to the Super Administrator (Dean of Student Affairs) workspace to prevent gossip or peer conflicts of interest.</a:t>
            </a:r>
            <a:endParaRPr lang="en-US" sz="950" dirty="0"/>
          </a:p>
        </p:txBody>
      </p:sp>
      <p:sp>
        <p:nvSpPr>
          <p:cNvPr id="11" name="Shape 9"/>
          <p:cNvSpPr/>
          <p:nvPr/>
        </p:nvSpPr>
        <p:spPr>
          <a:xfrm>
            <a:off x="731520" y="3749040"/>
            <a:ext cx="10698480" cy="1051560"/>
          </a:xfrm>
          <a:prstGeom prst="roundRect">
            <a:avLst>
              <a:gd name="adj" fmla="val 8696"/>
            </a:avLst>
          </a:prstGeom>
          <a:solidFill>
            <a:srgbClr val="FFFFFF"/>
          </a:solidFill>
          <a:ln w="12700">
            <a:solidFill>
              <a:srgbClr val="BFDBFE"/>
            </a:solidFill>
            <a:prstDash val="solid"/>
          </a:ln>
        </p:spPr>
      </p:sp>
      <p:sp>
        <p:nvSpPr>
          <p:cNvPr id="12" name="Text 10"/>
          <p:cNvSpPr/>
          <p:nvPr/>
        </p:nvSpPr>
        <p:spPr>
          <a:xfrm>
            <a:off x="914400" y="3840480"/>
            <a:ext cx="10332720" cy="320040"/>
          </a:xfrm>
          <a:prstGeom prst="rect">
            <a:avLst/>
          </a:prstGeom>
          <a:noFill/>
          <a:ln/>
        </p:spPr>
        <p:txBody>
          <a:bodyPr wrap="square" rtlCol="0" anchor="ctr"/>
          <a:lstStyle/>
          <a:p>
            <a:pPr indent="0" marL="0">
              <a:buNone/>
            </a:pPr>
            <a:r>
              <a:rPr lang="en-US" sz="1100" b="1" dirty="0">
                <a:solidFill>
                  <a:srgbClr val="2563EB"/>
                </a:solidFill>
                <a:latin typeface="Arial" pitchFamily="34" charset="0"/>
                <a:ea typeface="Arial" pitchFamily="34" charset="-122"/>
                <a:cs typeface="Arial" pitchFamily="34" charset="-120"/>
              </a:rPr>
              <a:t>Q3: What if I am in immediate physical danger on campus at night?</a:t>
            </a:r>
            <a:endParaRPr lang="en-US" sz="1100" dirty="0"/>
          </a:p>
        </p:txBody>
      </p:sp>
      <p:sp>
        <p:nvSpPr>
          <p:cNvPr id="13" name="Text 11"/>
          <p:cNvSpPr/>
          <p:nvPr/>
        </p:nvSpPr>
        <p:spPr>
          <a:xfrm>
            <a:off x="914400" y="4160520"/>
            <a:ext cx="10332720" cy="548640"/>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Tap the "Girl Safety SOS" or emergency modal in the top header. It connects immediately to 24/7 campus security dispatch and designated female safety officers stationed in the residential dormitories for rapid mobile dispatch.</a:t>
            </a:r>
            <a:endParaRPr lang="en-US" sz="950" dirty="0"/>
          </a:p>
        </p:txBody>
      </p:sp>
      <p:sp>
        <p:nvSpPr>
          <p:cNvPr id="14" name="Shape 12"/>
          <p:cNvSpPr/>
          <p:nvPr/>
        </p:nvSpPr>
        <p:spPr>
          <a:xfrm>
            <a:off x="731520" y="4892040"/>
            <a:ext cx="10698480" cy="1051560"/>
          </a:xfrm>
          <a:prstGeom prst="roundRect">
            <a:avLst>
              <a:gd name="adj" fmla="val 8696"/>
            </a:avLst>
          </a:prstGeom>
          <a:solidFill>
            <a:srgbClr val="FFFFFF"/>
          </a:solidFill>
          <a:ln w="12700">
            <a:solidFill>
              <a:srgbClr val="BFDBFE"/>
            </a:solidFill>
            <a:prstDash val="solid"/>
          </a:ln>
        </p:spPr>
      </p:sp>
      <p:sp>
        <p:nvSpPr>
          <p:cNvPr id="15" name="Text 13"/>
          <p:cNvSpPr/>
          <p:nvPr/>
        </p:nvSpPr>
        <p:spPr>
          <a:xfrm>
            <a:off x="914400" y="4983480"/>
            <a:ext cx="10332720" cy="320040"/>
          </a:xfrm>
          <a:prstGeom prst="rect">
            <a:avLst/>
          </a:prstGeom>
          <a:noFill/>
          <a:ln/>
        </p:spPr>
        <p:txBody>
          <a:bodyPr wrap="square" rtlCol="0" anchor="ctr"/>
          <a:lstStyle/>
          <a:p>
            <a:pPr indent="0" marL="0">
              <a:buNone/>
            </a:pPr>
            <a:r>
              <a:rPr lang="en-US" sz="1100" b="1" dirty="0">
                <a:solidFill>
                  <a:srgbClr val="2563EB"/>
                </a:solidFill>
                <a:latin typeface="Arial" pitchFamily="34" charset="0"/>
                <a:ea typeface="Arial" pitchFamily="34" charset="-122"/>
                <a:cs typeface="Arial" pitchFamily="34" charset="-120"/>
              </a:rPr>
              <a:t>Q4: How do we know complaints won’t be buried or ignored?</a:t>
            </a:r>
            <a:endParaRPr lang="en-US" sz="1100" dirty="0"/>
          </a:p>
        </p:txBody>
      </p:sp>
      <p:sp>
        <p:nvSpPr>
          <p:cNvPr id="16" name="Text 14"/>
          <p:cNvSpPr/>
          <p:nvPr/>
        </p:nvSpPr>
        <p:spPr>
          <a:xfrm>
            <a:off x="914400" y="5303520"/>
            <a:ext cx="10332720" cy="548640"/>
          </a:xfrm>
          <a:prstGeom prst="rect">
            <a:avLst/>
          </a:prstGeom>
          <a:noFill/>
          <a:ln/>
        </p:spPr>
        <p:txBody>
          <a:bodyPr wrap="square" rtlCol="0" anchor="ctr"/>
          <a:lstStyle/>
          <a:p>
            <a:pPr indent="0" marL="0">
              <a:buNone/>
            </a:pPr>
            <a:r>
              <a:rPr lang="en-US" sz="950" dirty="0">
                <a:solidFill>
                  <a:srgbClr val="334155"/>
                </a:solidFill>
                <a:latin typeface="Arial" pitchFamily="34" charset="0"/>
                <a:ea typeface="Arial" pitchFamily="34" charset="-122"/>
                <a:cs typeface="Arial" pitchFamily="34" charset="-120"/>
              </a:rPr>
              <a:t>Every submitted report is logged with an immutable cryptographic timestamp. Students track live status updates (Pending → In Review → Resolved). Super Admin oversight prevents any executive from discarding a legitimate grievance.</a:t>
            </a:r>
            <a:endParaRPr lang="en-US" sz="950" dirty="0"/>
          </a:p>
        </p:txBody>
      </p:sp>
      <p:sp>
        <p:nvSpPr>
          <p:cNvPr id="17" name="Text 15"/>
          <p:cNvSpPr/>
          <p:nvPr/>
        </p:nvSpPr>
        <p:spPr>
          <a:xfrm>
            <a:off x="731520" y="6400800"/>
            <a:ext cx="10698480" cy="274320"/>
          </a:xfrm>
          <a:prstGeom prst="rect">
            <a:avLst/>
          </a:prstGeom>
          <a:noFill/>
          <a:ln/>
        </p:spPr>
        <p:txBody>
          <a:bodyPr wrap="square" rtlCol="0" anchor="ctr"/>
          <a:lstStyle/>
          <a:p>
            <a:pPr indent="0" marL="0">
              <a:buNone/>
            </a:pPr>
            <a:r>
              <a:rPr lang="en-US" sz="900" dirty="0">
                <a:solidFill>
                  <a:srgbClr val="64748B"/>
                </a:solidFill>
                <a:latin typeface="Arial" pitchFamily="34" charset="0"/>
                <a:ea typeface="Arial" pitchFamily="34" charset="-122"/>
                <a:cs typeface="Arial" pitchFamily="34" charset="-120"/>
              </a:rPr>
              <a:t>Samara Student Voices | Confidential &amp; Charter-Protected | Slide 11 of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914400" y="914400"/>
            <a:ext cx="10332720" cy="274320"/>
          </a:xfrm>
          <a:prstGeom prst="rect">
            <a:avLst/>
          </a:prstGeom>
          <a:noFill/>
          <a:ln/>
        </p:spPr>
        <p:txBody>
          <a:bodyPr wrap="square" rtlCol="0" anchor="ctr"/>
          <a:lstStyle/>
          <a:p>
            <a:pPr indent="0" marL="0">
              <a:buNone/>
            </a:pPr>
            <a:r>
              <a:rPr lang="en-US" sz="1000" b="1" dirty="0">
                <a:solidFill>
                  <a:srgbClr val="60A5FA"/>
                </a:solidFill>
                <a:latin typeface="Arial" pitchFamily="34" charset="0"/>
                <a:ea typeface="Arial" pitchFamily="34" charset="-122"/>
                <a:cs typeface="Arial" pitchFamily="34" charset="-120"/>
              </a:rPr>
              <a:t>SAMARA UNIVERSITY — EMPOWERING STUDENT SAFETY &amp; VOICE</a:t>
            </a:r>
            <a:endParaRPr lang="en-US" sz="1000" dirty="0"/>
          </a:p>
        </p:txBody>
      </p:sp>
      <p:sp>
        <p:nvSpPr>
          <p:cNvPr id="3" name="Text 1"/>
          <p:cNvSpPr/>
          <p:nvPr/>
        </p:nvSpPr>
        <p:spPr>
          <a:xfrm>
            <a:off x="914400" y="1234440"/>
            <a:ext cx="10332720" cy="64008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Summary &amp; Live Platform Access</a:t>
            </a:r>
            <a:endParaRPr lang="en-US" sz="3200" dirty="0"/>
          </a:p>
        </p:txBody>
      </p:sp>
      <p:sp>
        <p:nvSpPr>
          <p:cNvPr id="4" name="Shape 2"/>
          <p:cNvSpPr/>
          <p:nvPr/>
        </p:nvSpPr>
        <p:spPr>
          <a:xfrm>
            <a:off x="914400" y="2103120"/>
            <a:ext cx="3291840" cy="1371600"/>
          </a:xfrm>
          <a:prstGeom prst="roundRect">
            <a:avLst>
              <a:gd name="adj" fmla="val 8000"/>
            </a:avLst>
          </a:prstGeom>
          <a:solidFill>
            <a:srgbClr val="1E293B"/>
          </a:solidFill>
          <a:ln w="12700">
            <a:solidFill>
              <a:srgbClr val="334155"/>
            </a:solidFill>
            <a:prstDash val="solid"/>
          </a:ln>
        </p:spPr>
      </p:sp>
      <p:sp>
        <p:nvSpPr>
          <p:cNvPr id="5" name="Text 3"/>
          <p:cNvSpPr/>
          <p:nvPr/>
        </p:nvSpPr>
        <p:spPr>
          <a:xfrm>
            <a:off x="1097280" y="2286000"/>
            <a:ext cx="2926080" cy="365760"/>
          </a:xfrm>
          <a:prstGeom prst="rect">
            <a:avLst/>
          </a:prstGeom>
          <a:noFill/>
          <a:ln/>
        </p:spPr>
        <p:txBody>
          <a:bodyPr wrap="square" rtlCol="0" anchor="ctr"/>
          <a:lstStyle/>
          <a:p>
            <a:pPr indent="0" marL="0">
              <a:buNone/>
            </a:pPr>
            <a:r>
              <a:rPr lang="en-US" sz="1400" b="1" dirty="0">
                <a:solidFill>
                  <a:srgbClr val="60A5FA"/>
                </a:solidFill>
                <a:latin typeface="Arial" pitchFamily="34" charset="0"/>
                <a:ea typeface="Arial" pitchFamily="34" charset="-122"/>
                <a:cs typeface="Arial" pitchFamily="34" charset="-120"/>
              </a:rPr>
              <a:t>100% Identity Shield</a:t>
            </a:r>
            <a:endParaRPr lang="en-US" sz="1400" dirty="0"/>
          </a:p>
        </p:txBody>
      </p:sp>
      <p:sp>
        <p:nvSpPr>
          <p:cNvPr id="6" name="Text 4"/>
          <p:cNvSpPr/>
          <p:nvPr/>
        </p:nvSpPr>
        <p:spPr>
          <a:xfrm>
            <a:off x="1097280" y="2697480"/>
            <a:ext cx="2926080" cy="64008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Zero-retaliation peace charter protecting every student voice.</a:t>
            </a:r>
            <a:endParaRPr lang="en-US" sz="1000" dirty="0"/>
          </a:p>
        </p:txBody>
      </p:sp>
      <p:sp>
        <p:nvSpPr>
          <p:cNvPr id="7" name="Shape 5"/>
          <p:cNvSpPr/>
          <p:nvPr/>
        </p:nvSpPr>
        <p:spPr>
          <a:xfrm>
            <a:off x="4434840" y="2103120"/>
            <a:ext cx="3291840" cy="1371600"/>
          </a:xfrm>
          <a:prstGeom prst="roundRect">
            <a:avLst>
              <a:gd name="adj" fmla="val 8000"/>
            </a:avLst>
          </a:prstGeom>
          <a:solidFill>
            <a:srgbClr val="1E293B"/>
          </a:solidFill>
          <a:ln w="12700">
            <a:solidFill>
              <a:srgbClr val="334155"/>
            </a:solidFill>
            <a:prstDash val="solid"/>
          </a:ln>
        </p:spPr>
      </p:sp>
      <p:sp>
        <p:nvSpPr>
          <p:cNvPr id="8" name="Text 6"/>
          <p:cNvSpPr/>
          <p:nvPr/>
        </p:nvSpPr>
        <p:spPr>
          <a:xfrm>
            <a:off x="4617720" y="2286000"/>
            <a:ext cx="2926080" cy="365760"/>
          </a:xfrm>
          <a:prstGeom prst="rect">
            <a:avLst/>
          </a:prstGeom>
          <a:noFill/>
          <a:ln/>
        </p:spPr>
        <p:txBody>
          <a:bodyPr wrap="square" rtlCol="0" anchor="ctr"/>
          <a:lstStyle/>
          <a:p>
            <a:pPr indent="0" marL="0">
              <a:buNone/>
            </a:pPr>
            <a:r>
              <a:rPr lang="en-US" sz="1400" b="1" dirty="0">
                <a:solidFill>
                  <a:srgbClr val="60A5FA"/>
                </a:solidFill>
                <a:latin typeface="Arial" pitchFamily="34" charset="0"/>
                <a:ea typeface="Arial" pitchFamily="34" charset="-122"/>
                <a:cs typeface="Arial" pitchFamily="34" charset="-120"/>
              </a:rPr>
              <a:t>&lt; 24h Turnaround</a:t>
            </a:r>
            <a:endParaRPr lang="en-US" sz="1400" dirty="0"/>
          </a:p>
        </p:txBody>
      </p:sp>
      <p:sp>
        <p:nvSpPr>
          <p:cNvPr id="9" name="Text 7"/>
          <p:cNvSpPr/>
          <p:nvPr/>
        </p:nvSpPr>
        <p:spPr>
          <a:xfrm>
            <a:off x="4617720" y="2697480"/>
            <a:ext cx="2926080" cy="64008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Fast digital review queue replacing weeks of paper delays.</a:t>
            </a:r>
            <a:endParaRPr lang="en-US" sz="1000" dirty="0"/>
          </a:p>
        </p:txBody>
      </p:sp>
      <p:sp>
        <p:nvSpPr>
          <p:cNvPr id="10" name="Shape 8"/>
          <p:cNvSpPr/>
          <p:nvPr/>
        </p:nvSpPr>
        <p:spPr>
          <a:xfrm>
            <a:off x="7955280" y="2103120"/>
            <a:ext cx="3291840" cy="1371600"/>
          </a:xfrm>
          <a:prstGeom prst="roundRect">
            <a:avLst>
              <a:gd name="adj" fmla="val 8000"/>
            </a:avLst>
          </a:prstGeom>
          <a:solidFill>
            <a:srgbClr val="1E293B"/>
          </a:solidFill>
          <a:ln w="12700">
            <a:solidFill>
              <a:srgbClr val="334155"/>
            </a:solidFill>
            <a:prstDash val="solid"/>
          </a:ln>
        </p:spPr>
      </p:sp>
      <p:sp>
        <p:nvSpPr>
          <p:cNvPr id="11" name="Text 9"/>
          <p:cNvSpPr/>
          <p:nvPr/>
        </p:nvSpPr>
        <p:spPr>
          <a:xfrm>
            <a:off x="8138160" y="2286000"/>
            <a:ext cx="2926080" cy="365760"/>
          </a:xfrm>
          <a:prstGeom prst="rect">
            <a:avLst/>
          </a:prstGeom>
          <a:noFill/>
          <a:ln/>
        </p:spPr>
        <p:txBody>
          <a:bodyPr wrap="square" rtlCol="0" anchor="ctr"/>
          <a:lstStyle/>
          <a:p>
            <a:pPr indent="0" marL="0">
              <a:buNone/>
            </a:pPr>
            <a:r>
              <a:rPr lang="en-US" sz="1400" b="1" dirty="0">
                <a:solidFill>
                  <a:srgbClr val="60A5FA"/>
                </a:solidFill>
                <a:latin typeface="Arial" pitchFamily="34" charset="0"/>
                <a:ea typeface="Arial" pitchFamily="34" charset="-122"/>
                <a:cs typeface="Arial" pitchFamily="34" charset="-120"/>
              </a:rPr>
              <a:t>4-Role Governance</a:t>
            </a:r>
            <a:endParaRPr lang="en-US" sz="1400" dirty="0"/>
          </a:p>
        </p:txBody>
      </p:sp>
      <p:sp>
        <p:nvSpPr>
          <p:cNvPr id="12" name="Text 10"/>
          <p:cNvSpPr/>
          <p:nvPr/>
        </p:nvSpPr>
        <p:spPr>
          <a:xfrm>
            <a:off x="8138160" y="2697480"/>
            <a:ext cx="2926080" cy="640080"/>
          </a:xfrm>
          <a:prstGeom prst="rect">
            <a:avLst/>
          </a:prstGeom>
          <a:noFill/>
          <a:ln/>
        </p:spPr>
        <p:txBody>
          <a:bodyPr wrap="square" rtlCol="0" anchor="ctr"/>
          <a:lstStyle/>
          <a:p>
            <a:pPr indent="0" marL="0">
              <a:buNone/>
            </a:pPr>
            <a:r>
              <a:rPr lang="en-US" sz="1000" dirty="0">
                <a:solidFill>
                  <a:srgbClr val="94A3B8"/>
                </a:solidFill>
                <a:latin typeface="Arial" pitchFamily="34" charset="0"/>
                <a:ea typeface="Arial" pitchFamily="34" charset="-122"/>
                <a:cs typeface="Arial" pitchFamily="34" charset="-120"/>
              </a:rPr>
              <a:t>Strict checks and balances preventing power abuse or leaks.</a:t>
            </a:r>
            <a:endParaRPr lang="en-US" sz="1000" dirty="0"/>
          </a:p>
        </p:txBody>
      </p:sp>
      <p:sp>
        <p:nvSpPr>
          <p:cNvPr id="13" name="Shape 11"/>
          <p:cNvSpPr/>
          <p:nvPr/>
        </p:nvSpPr>
        <p:spPr>
          <a:xfrm>
            <a:off x="914400" y="3749040"/>
            <a:ext cx="10332720" cy="2011680"/>
          </a:xfrm>
          <a:prstGeom prst="roundRect">
            <a:avLst>
              <a:gd name="adj" fmla="val 5455"/>
            </a:avLst>
          </a:prstGeom>
          <a:solidFill>
            <a:srgbClr val="1E293B"/>
          </a:solidFill>
          <a:ln w="12700">
            <a:solidFill>
              <a:srgbClr val="334155"/>
            </a:solidFill>
            <a:prstDash val="solid"/>
          </a:ln>
        </p:spPr>
      </p:sp>
      <p:sp>
        <p:nvSpPr>
          <p:cNvPr id="14" name="Text 12"/>
          <p:cNvSpPr/>
          <p:nvPr/>
        </p:nvSpPr>
        <p:spPr>
          <a:xfrm>
            <a:off x="1188720" y="3931920"/>
            <a:ext cx="9784080" cy="320040"/>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Official Deployment &amp; Project Resources</a:t>
            </a:r>
            <a:endParaRPr lang="en-US" sz="1300" dirty="0"/>
          </a:p>
        </p:txBody>
      </p:sp>
      <p:sp>
        <p:nvSpPr>
          <p:cNvPr id="15" name="Text 13"/>
          <p:cNvSpPr/>
          <p:nvPr/>
        </p:nvSpPr>
        <p:spPr>
          <a:xfrm>
            <a:off x="1188720" y="4343400"/>
            <a:ext cx="9784080" cy="320040"/>
          </a:xfrm>
          <a:prstGeom prst="rect">
            <a:avLst/>
          </a:prstGeom>
          <a:noFill/>
          <a:ln/>
        </p:spPr>
        <p:txBody>
          <a:bodyPr wrap="square" rtlCol="0" anchor="ctr"/>
          <a:lstStyle/>
          <a:p>
            <a:pPr indent="0" marL="0">
              <a:buNone/>
            </a:pPr>
            <a:r>
              <a:rPr lang="en-US" sz="1050" b="1" dirty="0">
                <a:solidFill>
                  <a:srgbClr val="60A5FA"/>
                </a:solidFill>
                <a:latin typeface="Arial" pitchFamily="34" charset="0"/>
                <a:ea typeface="Arial" pitchFamily="34" charset="-122"/>
                <a:cs typeface="Arial" pitchFamily="34" charset="-120"/>
              </a:rPr>
              <a:t>Live Platform URL: </a:t>
            </a:r>
            <a:pPr indent="0" marL="0">
              <a:buNone/>
            </a:pPr>
            <a:r>
              <a:rPr lang="en-US" sz="1050" dirty="0">
                <a:solidFill>
                  <a:srgbClr val="FFFFFF"/>
                </a:solidFill>
                <a:latin typeface="Arial" pitchFamily="34" charset="0"/>
                <a:ea typeface="Arial" pitchFamily="34" charset="-122"/>
                <a:cs typeface="Arial" pitchFamily="34" charset="-120"/>
              </a:rPr>
              <a:t>https://samara-student-voices.vercel.app</a:t>
            </a:r>
            <a:endParaRPr lang="en-US" sz="1050" dirty="0"/>
          </a:p>
        </p:txBody>
      </p:sp>
      <p:sp>
        <p:nvSpPr>
          <p:cNvPr id="16" name="Text 14"/>
          <p:cNvSpPr/>
          <p:nvPr/>
        </p:nvSpPr>
        <p:spPr>
          <a:xfrm>
            <a:off x="1188720" y="4672584"/>
            <a:ext cx="9784080" cy="320040"/>
          </a:xfrm>
          <a:prstGeom prst="rect">
            <a:avLst/>
          </a:prstGeom>
          <a:noFill/>
          <a:ln/>
        </p:spPr>
        <p:txBody>
          <a:bodyPr wrap="square" rtlCol="0" anchor="ctr"/>
          <a:lstStyle/>
          <a:p>
            <a:pPr indent="0" marL="0">
              <a:buNone/>
            </a:pPr>
            <a:r>
              <a:rPr lang="en-US" sz="1050" b="1" dirty="0">
                <a:solidFill>
                  <a:srgbClr val="60A5FA"/>
                </a:solidFill>
                <a:latin typeface="Arial" pitchFamily="34" charset="0"/>
                <a:ea typeface="Arial" pitchFamily="34" charset="-122"/>
                <a:cs typeface="Arial" pitchFamily="34" charset="-120"/>
              </a:rPr>
              <a:t>Institutional Partner: </a:t>
            </a:r>
            <a:pPr indent="0" marL="0">
              <a:buNone/>
            </a:pPr>
            <a:r>
              <a:rPr lang="en-US" sz="1050" dirty="0">
                <a:solidFill>
                  <a:srgbClr val="FFFFFF"/>
                </a:solidFill>
                <a:latin typeface="Arial" pitchFamily="34" charset="0"/>
                <a:ea typeface="Arial" pitchFamily="34" charset="-122"/>
                <a:cs typeface="Arial" pitchFamily="34" charset="-120"/>
              </a:rPr>
              <a:t>https://su.greenafricafarm.com (Peace Forum &amp; Student Union)</a:t>
            </a:r>
            <a:endParaRPr lang="en-US" sz="1050" dirty="0"/>
          </a:p>
        </p:txBody>
      </p:sp>
      <p:sp>
        <p:nvSpPr>
          <p:cNvPr id="17" name="Text 15"/>
          <p:cNvSpPr/>
          <p:nvPr/>
        </p:nvSpPr>
        <p:spPr>
          <a:xfrm>
            <a:off x="1188720" y="5001768"/>
            <a:ext cx="9784080" cy="320040"/>
          </a:xfrm>
          <a:prstGeom prst="rect">
            <a:avLst/>
          </a:prstGeom>
          <a:noFill/>
          <a:ln/>
        </p:spPr>
        <p:txBody>
          <a:bodyPr wrap="square" rtlCol="0" anchor="ctr"/>
          <a:lstStyle/>
          <a:p>
            <a:pPr indent="0" marL="0">
              <a:buNone/>
            </a:pPr>
            <a:r>
              <a:rPr lang="en-US" sz="1050" b="1" dirty="0">
                <a:solidFill>
                  <a:srgbClr val="60A5FA"/>
                </a:solidFill>
                <a:latin typeface="Arial" pitchFamily="34" charset="0"/>
                <a:ea typeface="Arial" pitchFamily="34" charset="-122"/>
                <a:cs typeface="Arial" pitchFamily="34" charset="-120"/>
              </a:rPr>
              <a:t>Source Code Repository: </a:t>
            </a:r>
            <a:pPr indent="0" marL="0">
              <a:buNone/>
            </a:pPr>
            <a:r>
              <a:rPr lang="en-US" sz="1050" dirty="0">
                <a:solidFill>
                  <a:srgbClr val="FFFFFF"/>
                </a:solidFill>
                <a:latin typeface="Arial" pitchFamily="34" charset="0"/>
                <a:ea typeface="Arial" pitchFamily="34" charset="-122"/>
                <a:cs typeface="Arial" pitchFamily="34" charset="-120"/>
              </a:rPr>
              <a:t>https://github.com/awash-dev/samara-student-voices</a:t>
            </a:r>
            <a:endParaRPr lang="en-US" sz="1050" dirty="0"/>
          </a:p>
        </p:txBody>
      </p:sp>
      <p:sp>
        <p:nvSpPr>
          <p:cNvPr id="18" name="Text 16"/>
          <p:cNvSpPr/>
          <p:nvPr/>
        </p:nvSpPr>
        <p:spPr>
          <a:xfrm>
            <a:off x="1188720" y="5330952"/>
            <a:ext cx="9784080" cy="320040"/>
          </a:xfrm>
          <a:prstGeom prst="rect">
            <a:avLst/>
          </a:prstGeom>
          <a:noFill/>
          <a:ln/>
        </p:spPr>
        <p:txBody>
          <a:bodyPr wrap="square" rtlCol="0" anchor="ctr"/>
          <a:lstStyle/>
          <a:p>
            <a:pPr indent="0" marL="0">
              <a:buNone/>
            </a:pPr>
            <a:r>
              <a:rPr lang="en-US" sz="1050" b="1" dirty="0">
                <a:solidFill>
                  <a:srgbClr val="60A5FA"/>
                </a:solidFill>
                <a:latin typeface="Arial" pitchFamily="34" charset="0"/>
                <a:ea typeface="Arial" pitchFamily="34" charset="-122"/>
                <a:cs typeface="Arial" pitchFamily="34" charset="-120"/>
              </a:rPr>
              <a:t>Lead Software Architect: </a:t>
            </a:r>
            <a:pPr indent="0" marL="0">
              <a:buNone/>
            </a:pPr>
            <a:r>
              <a:rPr lang="en-US" sz="1050" dirty="0">
                <a:solidFill>
                  <a:srgbClr val="FFFFFF"/>
                </a:solidFill>
                <a:latin typeface="Arial" pitchFamily="34" charset="0"/>
                <a:ea typeface="Arial" pitchFamily="34" charset="-122"/>
                <a:cs typeface="Arial" pitchFamily="34" charset="-120"/>
              </a:rPr>
              <a:t>Mohammed Hussen (awash-dev) — portfolis.pro.et</a:t>
            </a:r>
            <a:endParaRPr lang="en-US" sz="1050" dirty="0"/>
          </a:p>
        </p:txBody>
      </p:sp>
      <p:sp>
        <p:nvSpPr>
          <p:cNvPr id="19" name="Text 17"/>
          <p:cNvSpPr/>
          <p:nvPr/>
        </p:nvSpPr>
        <p:spPr>
          <a:xfrm>
            <a:off x="914400" y="6126480"/>
            <a:ext cx="10332720" cy="365760"/>
          </a:xfrm>
          <a:prstGeom prst="rect">
            <a:avLst/>
          </a:prstGeom>
          <a:noFill/>
          <a:ln/>
        </p:spPr>
        <p:txBody>
          <a:bodyPr wrap="square" rtlCol="0" anchor="ctr"/>
          <a:lstStyle/>
          <a:p>
            <a:pPr algn="ctr" indent="0" marL="0">
              <a:buNone/>
            </a:pPr>
            <a:r>
              <a:rPr lang="en-US" sz="1300" b="1" dirty="0">
                <a:solidFill>
                  <a:srgbClr val="60A5FA"/>
                </a:solidFill>
                <a:latin typeface="Arial" pitchFamily="34" charset="0"/>
                <a:ea typeface="Arial" pitchFamily="34" charset="-122"/>
                <a:cs typeface="Arial" pitchFamily="34" charset="-120"/>
              </a:rPr>
              <a:t>Thank you! Open for Questions &amp; Demonstrations.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standalone="yes"?>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vt:lpstr>Fonts Used</vt:lpstr></vt:variant>
			<vt:variant><vt:i4>2</vt:i4></vt:variant>
			<vt:variant><vt:lpstr>Theme</vt:lpstr></vt:variant>
			<vt:variant><vt:i4>1</vt:i4></vt:variant>
			<vt:variant><vt:lpstr>Slide Titles</vt:lpstr></vt:variant>
			<vt:variant><vt:i4>12</vt:i4></vt:variant>
		</vt:vector>
	</HeadingPairs>
	<TitlesOfParts>
		<vt:vector size="15" baseType="lpstr">
			<vt:lpstr>Arial</vt:lpstr>
			<vt:lpstr>Calibri</vt:lpstr>
			<vt:lpstr>Office Theme</vt:lpstr>
			<vt:lpstr>Slide 1</vt:lpstr><vt:lpstr>Slide 2</vt:lpstr><vt:lpstr>Slide 3</vt:lpstr><vt:lpstr>Slide 4</vt:lpstr><vt:lpstr>Slide 5</vt:lpstr><vt:lpstr>Slide 6</vt:lpstr><vt:lpstr>Slide 7</vt:lpstr><vt:lpstr>Slide 8</vt:lpstr><vt:lpstr>Slide 9</vt:lpstr><vt:lpstr>Slide 10</vt:lpstr><vt:lpstr>Slide 11</vt:lpstr><vt:lpstr>Slide 12</vt:lpstr>
		</vt:vector>
	</TitlesOfParts>
	<Company>Samara University — Student Voice & Safety Network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Samara University Student Voice &amp; Safety Network Presentation</dc:title>
  <dc:subject>PptxGenJS Presentation</dc:subject>
  <dc:creator>Mohammed Hussen (awash-dev)</dc:creator>
  <cp:lastModifiedBy>Mohammed Hussen (awash-dev)</cp:lastModifiedBy>
  <cp:revision>1</cp:revision>
  <dcterms:created xsi:type="dcterms:W3CDTF">2026-10-27T11:06:27Z</dcterms:created>
  <dcterms:modified xsi:type="dcterms:W3CDTF">2026-10-27T11:06:27Z</dcterms:modified>
</cp:coreProperties>
</file>