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88952" cy="2011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55664"/>
            <a:ext cx="12188952" cy="201168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10058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94960" y="13716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468880"/>
            <a:ext cx="75895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i="0" dirty="0">
                <a:solidFill>
                  <a:srgbClr val="FFFFFF"/>
                </a:solidFill>
                <a:latin typeface="Calibri"/>
              </a:rPr>
              <a:t>SAMARA UNIVERSITY 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STUDENT VOICE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6684" y="3438144"/>
            <a:ext cx="57881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3621024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5C518"/>
                </a:solidFill>
                <a:latin typeface="Calibri"/>
              </a:rPr>
              <a:t>A Safe Space for Students to Report &amp; Be Heard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Calibri"/>
              </a:rPr>
              <a:t>Sexual Harassment Reporting  ·  Educational Feedback  ·  Direct Executive 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663440"/>
            <a:ext cx="5788152" cy="54864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0" y="48463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899AA"/>
                </a:solidFill>
                <a:latin typeface="Calibri"/>
              </a:rPr>
              <a:t>Presented to the</a:t>
            </a:r>
            <a:r>
              <a:rPr lang="en-US" sz="1100" b="0" i="0" dirty="0">
                <a:solidFill>
                  <a:srgbClr val="8899AA"/>
                </a:solidFill>
                <a:latin typeface="Calibri"/>
              </a:rPr>
              <a:t> Dean of Student Affairs</a:t>
            </a:r>
            <a:endParaRPr sz="1100" b="0" i="0" dirty="0">
              <a:solidFill>
                <a:srgbClr val="8899A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0" y="5166360"/>
            <a:ext cx="7589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8899AA"/>
                </a:solidFill>
                <a:latin typeface="Calibri"/>
              </a:rPr>
              <a:t>University of</a:t>
            </a:r>
            <a:r>
              <a:rPr lang="en-US" sz="1100" i="1" dirty="0">
                <a:solidFill>
                  <a:srgbClr val="8899AA"/>
                </a:solidFill>
                <a:latin typeface="Calibri"/>
              </a:rPr>
              <a:t> samara</a:t>
            </a:r>
            <a:r>
              <a:rPr sz="1100" b="0" i="1" dirty="0">
                <a:solidFill>
                  <a:srgbClr val="8899AA"/>
                </a:solidFill>
                <a:latin typeface="Calibri"/>
              </a:rPr>
              <a:t>—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82880" cy="6748272"/>
          </a:xfrm>
          <a:prstGeom prst="rect">
            <a:avLst/>
          </a:prstGeom>
          <a:solidFill>
            <a:srgbClr val="C0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757D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What Students Face in Silence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38560" cy="2011680"/>
          </a:xfrm>
          <a:prstGeom prst="rect">
            <a:avLst/>
          </a:prstGeom>
          <a:solidFill>
            <a:srgbClr val="FFF0F0"/>
          </a:solidFill>
          <a:ln w="12700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2727"/>
                </a:solidFill>
                <a:latin typeface="Calibri"/>
              </a:rPr>
              <a:t>⚠️  Real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 lecturer tells a female student:  "I will change your grade if you give me something sexually."
The student is trapped — she does not know where to go, who to tell, or if anyone will believe 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56616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3566160"/>
            <a:ext cx="3657600" cy="347472"/>
          </a:xfrm>
          <a:prstGeom prst="rect">
            <a:avLst/>
          </a:prstGeom>
          <a:solidFill>
            <a:srgbClr val="C0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62102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😶  No Safe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41648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No private, confidential place to report the incident.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56616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3566160"/>
            <a:ext cx="3657600" cy="347472"/>
          </a:xfrm>
          <a:prstGeom prst="rect">
            <a:avLst/>
          </a:prstGeom>
          <a:solidFill>
            <a:srgbClr val="C0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362102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😰  Fear &amp; Silence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041648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Student fears retaliation, grade loss, or not being believed.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9" y="356616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19" y="3566160"/>
            <a:ext cx="3657600" cy="347472"/>
          </a:xfrm>
          <a:prstGeom prst="rect">
            <a:avLst/>
          </a:prstGeom>
          <a:solidFill>
            <a:srgbClr val="C0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362102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📭  No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041648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Even if reported verbally, nothing happens. No follow-up.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144768"/>
            <a:ext cx="1133856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1996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This platform gives students a safe, private, and direct channel — protected by the Student Executive.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PLATFORM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Is This Platform?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A simple, secure web platform for university students to report problems and give feedback — directly and privately to the Student Executive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5394960" cy="4114800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🚨  FOCUS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Sexual Harassment
Reporting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  <a:latin typeface="Calibri"/>
              </a:rPr>
              <a:t>▸  Student receives inappropriate request from 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33087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  <a:latin typeface="Calibri"/>
              </a:rPr>
              <a:t>▸  Opens the platform — clicks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628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  <a:latin typeface="Calibri"/>
              </a:rPr>
              <a:t>▸  Chooses: Accept or Ignore the incident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9262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  <a:latin typeface="Calibri"/>
              </a:rPr>
              <a:t>▸  Message goes directly to Executive — private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223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  <a:latin typeface="Calibri"/>
              </a:rPr>
              <a:t>▸  Executive responds and takes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194560"/>
            <a:ext cx="5394960" cy="41148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331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📚  FOCUS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432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Educational Quality
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03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  <a:latin typeface="Calibri"/>
              </a:rPr>
              <a:t>▸  Student shares feedback on teaching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33087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  <a:latin typeface="Calibri"/>
              </a:rPr>
              <a:t>▸  Comments on exams, curriculum, or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628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  <a:latin typeface="Calibri"/>
              </a:rPr>
              <a:t>▸  Sent privately to Executive — not public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9262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  <a:latin typeface="Calibri"/>
              </a:rPr>
              <a:t>▸  Executive reads, filters, and responds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4223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  <a:latin typeface="Calibri"/>
              </a:rPr>
              <a:t>▸  Student gets a direct reply — not ignored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82880" cy="6748272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757D"/>
                </a:solidFill>
                <a:latin typeface="Calibri"/>
              </a:rPr>
              <a:t>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The First Page Every User Sees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113385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133856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🎓  Student Voice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3533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Calibri"/>
              </a:rPr>
              <a:t>Home     About     Login     Register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11338560" cy="2011680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19659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Your Voice. Protected. Heard.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FFCC"/>
                </a:solidFill>
                <a:latin typeface="Calibri"/>
              </a:rPr>
              <a:t>Report harassment. Share feedback. Get a real response from your Student Executive.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246120"/>
            <a:ext cx="182880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0" y="33009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Register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46120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33009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Login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31920"/>
            <a:ext cx="5212080" cy="2194560"/>
          </a:xfrm>
          <a:prstGeom prst="rect">
            <a:avLst/>
          </a:prstGeom>
          <a:solidFill>
            <a:srgbClr val="FFF0F0"/>
          </a:solidFill>
          <a:ln w="12700">
            <a:solidFill>
              <a:srgbClr val="DD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416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2727"/>
                </a:solidFill>
                <a:latin typeface="Calibri"/>
              </a:rPr>
              <a:t>🚨  Report Harassment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Safe and private reporting of any
inappropriate behavior by staff or lecturers.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931920"/>
            <a:ext cx="5212080" cy="2194560"/>
          </a:xfrm>
          <a:prstGeom prst="rect">
            <a:avLst/>
          </a:prstGeom>
          <a:solidFill>
            <a:srgbClr val="F0F7FF"/>
          </a:solidFill>
          <a:ln w="12700">
            <a:solidFill>
              <a:srgbClr val="88A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0416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3B66"/>
                </a:solidFill>
                <a:latin typeface="Calibri"/>
              </a:rPr>
              <a:t>📚  Share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4348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Tell us about teaching quality, exams,
and your learning experience. We listen.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82880" cy="67482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757D"/>
                </a:solidFill>
                <a:latin typeface="Calibri"/>
              </a:rPr>
              <a:t>USER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3 Simple Roles — Clear Responsibilities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36576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3657600" cy="914400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👨‍🎓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554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Registers with university 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950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Logs in to personal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2841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Sends report or feedback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673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Chooses message type (harassment / feedback)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062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Receives private reply from Executive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451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Cannot see other students' messages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840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All conversations are private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371600"/>
            <a:ext cx="36576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3400" y="1371600"/>
            <a:ext cx="3657600" cy="9144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80" y="1444752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1554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EXECUTIVE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4505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Sees ALL student messages in one place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88950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Filters by type: Harassment / 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Reads each message privately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7673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Replies directly to the student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2062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Student receives the reply instantly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6451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Can manage and close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0840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Full control over all communications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19" y="1371600"/>
            <a:ext cx="36576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75319" y="1371600"/>
            <a:ext cx="3657600" cy="914400"/>
          </a:xfrm>
          <a:prstGeom prst="rect">
            <a:avLst/>
          </a:prstGeom>
          <a:solidFill>
            <a:srgbClr val="5C3D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8199" y="1444752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19" y="1554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9" y="24505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Approves student registration requests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9" y="288950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Approves executive registration requests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199" y="332841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Can remove accounts if needed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199" y="37673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Does NOT see any messages or reports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199" y="42062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Does NOT participate in any chat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199" y="46451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Only manages: Who can access the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199" y="50840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 Simple email-based approval list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510528"/>
            <a:ext cx="1133856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6547104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One login page — role is assigned during registration — each role sees only what it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Simple. Step by Step.</a:t>
            </a:r>
          </a:p>
        </p:txBody>
      </p:sp>
      <p:sp>
        <p:nvSpPr>
          <p:cNvPr id="6" name="Oval 5"/>
          <p:cNvSpPr/>
          <p:nvPr/>
        </p:nvSpPr>
        <p:spPr>
          <a:xfrm>
            <a:off x="1161288" y="1325880"/>
            <a:ext cx="914400" cy="914400"/>
          </a:xfrm>
          <a:prstGeom prst="ellipse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61288" y="1389888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Student
Registers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9067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BBCC"/>
                </a:solidFill>
                <a:latin typeface="Calibri"/>
              </a:rPr>
              <a:t>Signs up with university
email. Admin approves.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1691640"/>
            <a:ext cx="457200" cy="109728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93008" y="1325880"/>
            <a:ext cx="914400" cy="914400"/>
          </a:xfrm>
          <a:prstGeom prst="ellipse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3008" y="1389888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242316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Student
Logs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09067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BBCC"/>
                </a:solidFill>
                <a:latin typeface="Calibri"/>
              </a:rPr>
              <a:t>Goes to dashboard.
Sees their own messages only.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691640"/>
            <a:ext cx="457200" cy="109728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24727" y="1325880"/>
            <a:ext cx="914400" cy="914400"/>
          </a:xfrm>
          <a:prstGeom prst="ellipse">
            <a:avLst/>
          </a:prstGeom>
          <a:solidFill>
            <a:srgbClr val="C0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24727" y="1389888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242316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Sends a
Message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09067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BBCC"/>
                </a:solidFill>
                <a:latin typeface="Calibri"/>
              </a:rPr>
              <a:t>Types report or feedback.
Chooses the category.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79" y="1691640"/>
            <a:ext cx="457200" cy="109728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156447" y="1325880"/>
            <a:ext cx="914400" cy="914400"/>
          </a:xfrm>
          <a:prstGeom prst="ellipse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56447" y="1389888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42316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Executive
Receives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39" y="309067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BBCC"/>
                </a:solidFill>
                <a:latin typeface="Calibri"/>
              </a:rPr>
              <a:t>Sees it in their inbox.
Filters and reads privately.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3999" y="1691640"/>
            <a:ext cx="457200" cy="109728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88167" y="1325880"/>
            <a:ext cx="914400" cy="914400"/>
          </a:xfrm>
          <a:prstGeom prst="ellipse">
            <a:avLst/>
          </a:prstGeom>
          <a:solidFill>
            <a:srgbClr val="C8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88167" y="1389888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42316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Direct
Reply 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309067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BBCC"/>
                </a:solidFill>
                <a:latin typeface="Calibri"/>
              </a:rPr>
              <a:t>Executive replies.
Student is notified instantly.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77639"/>
            <a:ext cx="11247120" cy="251460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4114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🔒  PRIVACY RULES — Simple &amp; Clear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👁  Only YOU and the Executive can see your message — no other student can ever see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056631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CCFF"/>
                </a:solidFill>
                <a:latin typeface="Calibri"/>
              </a:rPr>
              <a:t>🚫  Other students' messages are completely hidden from you — full privacy guaranteed.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49554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📋  Every message is logged with date and time — permanent record for accountability.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93445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FFCC"/>
                </a:solidFill>
                <a:latin typeface="Calibri"/>
              </a:rPr>
              <a:t>🎭  You may choose to report anonymously for harassment cases — your safety comes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82880" cy="6748272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757D"/>
                </a:solidFill>
                <a:latin typeface="Calibri"/>
              </a:rPr>
              <a:t>ADMIN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Admin Dashboard — Access Control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53949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539496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990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⚙️  What Admin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✅  Approves student registration 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973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✅  Approves executive registration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8094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❌  Removes accounts if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021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👁  Sees only email addresses — no names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🔒  Cannot read any student messages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445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🚫  Cannot access any reports or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06577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📋  Simple list: Pending / Approved / Rejected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25880"/>
            <a:ext cx="54864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5486400" cy="457200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399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📋  Admin Dashboard — Registration Requests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783080"/>
            <a:ext cx="5486400" cy="3474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Email Address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240280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23134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student1@uni.edu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3134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Student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3134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6C3A"/>
                </a:solidFill>
                <a:latin typeface="Calibri"/>
              </a:rPr>
              <a:t>✅ Approve  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715768"/>
            <a:ext cx="54864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2788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exec2@uni.edu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788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Executive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788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6C3A"/>
                </a:solidFill>
                <a:latin typeface="Calibri"/>
              </a:rPr>
              <a:t>✅ Approve  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191256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32644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student3@uni.edu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2644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Student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32644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6C3A"/>
                </a:solidFill>
                <a:latin typeface="Calibri"/>
              </a:rPr>
              <a:t>✅ Approve  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666744"/>
            <a:ext cx="54864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373989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student4@uni.edu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7398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Student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373989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6C3A"/>
                </a:solidFill>
                <a:latin typeface="Calibri"/>
              </a:rPr>
              <a:t>✅ Approve  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142232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42153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exec5@uni.edu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421538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Executive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42153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6C3A"/>
                </a:solidFill>
                <a:latin typeface="Calibri"/>
              </a:rPr>
              <a:t>✅ Approve  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6473952"/>
            <a:ext cx="11320272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Admin is the gatekeeper — simple approval list — no access to any student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82880" cy="6748272"/>
          </a:xfrm>
          <a:prstGeom prst="rect">
            <a:avLst/>
          </a:prstGeom>
          <a:solidFill>
            <a:srgbClr val="C0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757D"/>
                </a:solidFill>
                <a:latin typeface="Calibri"/>
              </a:rPr>
              <a:t>STUDENT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What the Student Sees After 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1133856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1338560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🎓  Student Dashboard  —  Welcome, [Student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371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C757D"/>
                </a:solidFill>
                <a:latin typeface="Calibri"/>
              </a:rPr>
              <a:t>Logout 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55648"/>
            <a:ext cx="2286000" cy="47823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755648"/>
            <a:ext cx="2286000" cy="621792"/>
          </a:xfrm>
          <a:prstGeom prst="rect">
            <a:avLst/>
          </a:prstGeom>
          <a:solidFill>
            <a:srgbClr val="E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C3A"/>
                </a:solidFill>
                <a:latin typeface="Calibri"/>
              </a:rPr>
              <a:t>📨  Send Message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14015"/>
            <a:ext cx="22860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4871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💬  My Messages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072384"/>
            <a:ext cx="22860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14553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📋  My Reports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30752"/>
            <a:ext cx="22860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⚙️  Settings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1810512"/>
            <a:ext cx="87782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17520" y="187451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✉️  Send a New Message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2286000"/>
            <a:ext cx="877824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17520" y="2395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757D"/>
                </a:solidFill>
                <a:latin typeface="Calibri"/>
              </a:rPr>
              <a:t>Message Type: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2377440"/>
            <a:ext cx="2560320" cy="365760"/>
          </a:xfrm>
          <a:prstGeom prst="rect">
            <a:avLst/>
          </a:prstGeom>
          <a:solidFill>
            <a:srgbClr val="FFEEEE"/>
          </a:solidFill>
          <a:ln w="12700">
            <a:solidFill>
              <a:srgbClr val="C0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74920" y="24231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2727"/>
                </a:solidFill>
                <a:latin typeface="Calibri"/>
              </a:rPr>
              <a:t>🚨 Harassment Report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377440"/>
            <a:ext cx="2560320" cy="365760"/>
          </a:xfrm>
          <a:prstGeom prst="rect">
            <a:avLst/>
          </a:prstGeom>
          <a:solidFill>
            <a:srgbClr val="F0F7FF"/>
          </a:solidFill>
          <a:ln w="12700">
            <a:solidFill>
              <a:srgbClr val="88A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18120" y="24231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3B66"/>
                </a:solidFill>
                <a:latin typeface="Calibri"/>
              </a:rPr>
              <a:t>📚 Educational 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880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757D"/>
                </a:solidFill>
                <a:latin typeface="Calibri"/>
              </a:rPr>
              <a:t>Your Message (private — only Executive can read this):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3246120"/>
            <a:ext cx="8412480" cy="14630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0" y="34290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Calibri"/>
              </a:rPr>
              <a:t>Write your message here...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4864608"/>
            <a:ext cx="1554480" cy="411480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17520" y="49103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Send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919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Calibri"/>
              </a:rPr>
              <a:t>🔒 Anonymous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82880" cy="6748272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757D"/>
                </a:solidFill>
                <a:latin typeface="Calibri"/>
              </a:rPr>
              <a:t>EXECUTIVE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What the Executive Sees After 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1133856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1338560" cy="47548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🏛  Executive Dashboard  —  All Student Messages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55648"/>
            <a:ext cx="1133856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8105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757D"/>
                </a:solidFill>
                <a:latin typeface="Calibri"/>
              </a:rPr>
              <a:t>Filter: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1801368"/>
            <a:ext cx="1554480" cy="274320"/>
          </a:xfrm>
          <a:prstGeom prst="rect">
            <a:avLst/>
          </a:prstGeom>
          <a:solidFill>
            <a:srgbClr val="1B6C3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181965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801368"/>
            <a:ext cx="1554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08960" y="181965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C757D"/>
                </a:solidFill>
                <a:latin typeface="Calibri"/>
              </a:rPr>
              <a:t>🚨 Harassment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801368"/>
            <a:ext cx="1554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181965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C757D"/>
                </a:solidFill>
                <a:latin typeface="Calibri"/>
              </a:rPr>
              <a:t>📚 Feedback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1801368"/>
            <a:ext cx="1554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81965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C757D"/>
                </a:solidFill>
                <a:latin typeface="Calibri"/>
              </a:rPr>
              <a:t>🟡 Pending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801368"/>
            <a:ext cx="1554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80" y="181965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C757D"/>
                </a:solidFill>
                <a:latin typeface="Calibri"/>
              </a:rPr>
              <a:t>✅ Resolved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176272"/>
            <a:ext cx="11338560" cy="32918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2219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  <a:latin typeface="Calibri"/>
              </a:rPr>
              <a:t>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2219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  <a:latin typeface="Calibri"/>
              </a:rPr>
              <a:t>Student 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22219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  <a:latin typeface="Calibri"/>
              </a:rPr>
              <a:t>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2219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  <a:latin typeface="Calibri"/>
              </a:rPr>
              <a:t>Preview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2219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  <a:latin typeface="Calibri"/>
              </a:rPr>
              <a:t>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2219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  <a:latin typeface="Calibri"/>
              </a:rPr>
              <a:t>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542032"/>
            <a:ext cx="113385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263347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2727"/>
                </a:solidFill>
                <a:latin typeface="Calibri"/>
              </a:rPr>
              <a:t>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student1@uni.edu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7208" y="2651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2727"/>
                </a:solidFill>
                <a:latin typeface="Calibri"/>
              </a:rPr>
              <a:t>Harassment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2651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My lecturer asked me for......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33688" y="26517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C757D"/>
                </a:solidFill>
                <a:latin typeface="Calibri"/>
              </a:rPr>
              <a:t>Today 09:14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8128" y="2651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2727"/>
                </a:solidFill>
                <a:latin typeface="Calibri"/>
              </a:rPr>
              <a:t>🟡 Pending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108960"/>
            <a:ext cx="11338560" cy="53035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32004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3B66"/>
                </a:solidFill>
                <a:latin typeface="Calibri"/>
              </a:rPr>
              <a:t>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" y="3218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student2@uni.edu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07208" y="32186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B66"/>
                </a:solidFill>
                <a:latin typeface="Calibri"/>
              </a:rPr>
              <a:t>Educational Feedback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0328" y="321868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The exam questions were not......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3688" y="321868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C757D"/>
                </a:solidFill>
                <a:latin typeface="Calibri"/>
              </a:rPr>
              <a:t>Today 10:32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8128" y="3218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3B66"/>
                </a:solidFill>
                <a:latin typeface="Calibri"/>
              </a:rPr>
              <a:t>🟡 Pending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675887"/>
            <a:ext cx="113385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0352" y="3767327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6BB0"/>
                </a:solidFill>
                <a:latin typeface="Calibri"/>
              </a:rPr>
              <a:t>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" y="37856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student3@uni.edu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07208" y="378561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6BB0"/>
                </a:solidFill>
                <a:latin typeface="Calibri"/>
              </a:rPr>
              <a:t>Harassment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10328" y="3785615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During lab session I was told......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33688" y="3785615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C757D"/>
                </a:solidFill>
                <a:latin typeface="Calibri"/>
              </a:rPr>
              <a:t>Yesterday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68128" y="3785615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6BB0"/>
                </a:solidFill>
                <a:latin typeface="Calibri"/>
              </a:rPr>
              <a:t>🔵 In Review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242816"/>
            <a:ext cx="11338560" cy="53035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0352" y="4334255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6C3A"/>
                </a:solidFill>
                <a:latin typeface="Calibri"/>
              </a:rPr>
              <a:t>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" y="4352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student4@uni.edu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07208" y="43525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6C3A"/>
                </a:solidFill>
                <a:latin typeface="Calibri"/>
              </a:rPr>
              <a:t>Educational Feedback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10328" y="435254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The teaching quality of......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33688" y="435254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C757D"/>
                </a:solidFill>
                <a:latin typeface="Calibri"/>
              </a:rPr>
              <a:t>2 days ago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68128" y="43525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6C3A"/>
                </a:solidFill>
                <a:latin typeface="Calibri"/>
              </a:rPr>
              <a:t>✅ Resolved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59893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  <a:latin typeface="Calibri"/>
              </a:rPr>
              <a:t>Click any row → opens private chat thread with that student — direct reply.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WHAT MAKES IT UNIQUE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This Platform — Why Now?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657600" cy="228600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02920" cy="2286000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224028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002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Built for Ethiopian
Universities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Designed for the local context — the exact problems students face here, right now.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657600" cy="228600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502920" cy="2286000"/>
          </a:xfrm>
          <a:prstGeom prst="rect">
            <a:avLst/>
          </a:prstGeom>
          <a:solidFill>
            <a:srgbClr val="C0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552" y="224028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6002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Protects Women
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3317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Sexual harassment reporting is the core feature — not an afterthought. Students are safe.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3657600" cy="228600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502920" cy="2286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224028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6002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Direct Chat —
Not a 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3317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Not a generic form that disappears. A real two-way conversation with the Executive.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3657600" cy="228600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886200"/>
            <a:ext cx="502920" cy="22860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470916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690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Full Privacy
Guaranteed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0060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No student can see another student's message. Complete isolation of every conversation.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886200"/>
            <a:ext cx="3657600" cy="228600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43400" y="3886200"/>
            <a:ext cx="502920" cy="2286000"/>
          </a:xfrm>
          <a:prstGeom prst="rect">
            <a:avLst/>
          </a:prstGeom>
          <a:solidFill>
            <a:srgbClr val="C8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16552" y="470916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0690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Simple to
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480060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No training needed. Login, type, send. Students and executives can use it immediately.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886200"/>
            <a:ext cx="3657600" cy="228600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0" y="3886200"/>
            <a:ext cx="502920" cy="2286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02752" y="470916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0690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Permanent
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80060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Every message is saved with timestamp — accountability and evidence if needed later.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889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228600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94960" y="11887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9445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STUDENT VOICE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880360"/>
            <a:ext cx="67025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5C518"/>
                </a:solidFill>
                <a:latin typeface="Calibri"/>
              </a:rPr>
              <a:t>We are asking for your approval to build this.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703320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✅  Platform is fully planned and designed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050791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✅  Three roles defined: Student, Executive,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398264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✅  Sexual harassment reporting as the core 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745736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✅  Educational feedback system included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093208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✅  Full privacy — no student sees another's message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440679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✅  Simple to use — no training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788152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C518"/>
                </a:solidFill>
                <a:latin typeface="Calibri"/>
              </a:rPr>
              <a:t>➡️  Next step: Your approval to begin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6295</TotalTime>
  <Words>1202</Words>
  <Application>Microsoft Office PowerPoint</Application>
  <PresentationFormat>Custom</PresentationFormat>
  <Paragraphs>214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awash-dev</cp:lastModifiedBy>
  <cp:revision>3</cp:revision>
  <dcterms:created xsi:type="dcterms:W3CDTF">2013-01-27T09:14:16Z</dcterms:created>
  <dcterms:modified xsi:type="dcterms:W3CDTF">2026-05-24T19:01:36Z</dcterms:modified>
  <cp:category/>
</cp:coreProperties>
</file>